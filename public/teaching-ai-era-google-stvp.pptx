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Chuck Eesley from Stanford's Technology Ventures Program. Today I want to talk about something that affects all of us in the STVP community — how AI is fundamentally reshaping entrepreneurship education. The subtitle says it all: we need to shift from generation to verification. Let me show you what I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STVP has always sat at the intersection of these three pillars. What's exciting — and challenging — is that AI is transforming all three simultaneously. And as Steve Blank noted at our MS&amp;E 25th anniversary, AI is changing the very foundation of how we build and test business models. [CLICK VIDEO CLIP if time permits] Let's look at what the latest research tells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optimistic case is real. Dell'Acqua and colleagues found a 34% quality improvement for consultants using AI on the right tasks. Csaszar showed AI-generated business strategies correlate at r=0.52 with experienced VC evaluations. These are not small effects. But — and this is the crucial point — the full picture is much more nuanced.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concept from Dell'Acqua, Mollick, and Lakhani's study with 758 BCG consultants. The frontier is 'jagged' — tasks that look equally complex to humans fall on different sides. Inside the frontier, AI is transformative. Outside, it actually makes performance worse by 19%. The critical skill becomes knowing which side of the frontier you're on. And here's the kicker: bottom-half performers gained more than top-half, but ONLY inside the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Otis and colleagues ran a rigorous RCT with 640 Kenyan entrepreneurs. High-performers gained 15% in business performance — but low-performers actually declined by 8%. This is not a rising-tide-lifts-all-boats story. AI amplifies existing differences. For educators, this means we can't just hand students AI tools and expect equal outcomes. We need to think carefully about scaffolding and skill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Felipe Csaszar's work is fascinating on multiple levels. First, LLMs can generate business strategies that evaluators prefer over entrepreneur-written ones. Second, AI evaluations of 138 real business plans correlated at r=0.52 with experienced VCs and angels. But the most striking finding is the Kickstarter prediction tournament: LLMs predicted which live projects would succeed at r above 0.60, while experienced human evaluators only managed r=0.04 to 0.45. AI may genuinely be better at strategic foresight. Felipe frames this as 'unbounding rationality' — AI relaxes the cognitive constraints that bound human strategic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Jackie Lane's work from Harvard introduces a crucial counterpoint. When AI provided narrative explanations, evaluators were 19% MORE likely to align with AI recommendations — not because they understood better, but because the narratives were persuasive. In 3,002 decisions about early-stage innovations, explanatory AI actually reduced human oversight quality. The paradox: the tool designed to help humans check AI actually made them more compliant. This has huge implications for how we design human-AI workflows in entrepreneurship.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this play out across the actual startup journey? I've mapped the jagged frontier onto six stages. Green means AI is solidly inside the frontier — ideation and prototyping are clear wins. Gold means you're right on the frontier — customer discovery, business models, fundraising, and scaling all have areas where AI helps and areas where it misleads. Notice fundraising is now frontier, not outside — Csaszar's work shows AI can predict investor interest, but the relationship and narrative dimensions remain deeply human. The key takeaway: the frontier runs through EVERY stage. Founders need to know which side they're on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Elizabeth Yin, GP at Hustle Fund, actually built an open-source framework called Paperclip for running companies with AI agents. Multiple agents coordinate — content, SEO, dev — and you set vision as a 'board member.' Sounds amazing, right? But the reality check is important: 'autonomous' still required daily management. The SEO agent was bad at SEO until Yin herself intervened. They built a lot, but no one came to the website — because there was no distribution or sales agent. Building isn't the hard part, distribution is. And look at the broader wave: Paperclip has 42K GitHub stars, Polsia has one founder running 3,800+ AI-operated companies. KPMG even tested a webshop with an AI agent as CEO. We're at an inflection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Gallagher's Medvi is the most dramatic example yet. One person, telehealth company, on pace for 1.8 billion dollars in sales. Started with $20K, built to $401M revenue in two months using AI for code generation, ad optimization, customer support, and operations. The AI stack is remarkable. BUT — and this is where it gets interesting for educators — the verification gap is real. The NYT investigation found hallucinated prices, customer service handled by cell phone calls, and human account managers brought in to handle what AI couldn't. The question for us: as educators, are we preparing students to BUILD Medvi, or to EVALUATE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draws from my Substack piece 'The In-Box Congestion Crisis.' The core argument: we're teaching the wrong lesson about AI in entrepreneurship. We teach students to use AI to generate — slide decks, business models, bespoke cold DMs. But when the marginal cost of personalized outreach drops to zero, its value drops to zero. We've turned the ecosystem into a high-speed noise machine. The evolution here is important: Steve Blank taught us to get out of the building. Disciplined Entrepreneurship showed us how to accelerate with AI. The NEXT step is mechanism design — making evidence harder to manufacture. AI as verifier, not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Spence's signaling theory gives us the framework. A signal is only credible if it's costly to fake. Everything we teach founders to produce — the pitch, the persona, the discovery summary — has become cheap talk. Not because founders are dishonest, but because AI has exposed the flaw at scale. Before AI, motivated reasoning was human-scale and bounded. After AI, it's industrialized. The synthesis is cleaner, the narrative more coherent, and the gap between what customers said and what the deck concludes has never been easier to paper over — without any intent to deceive.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teach instead? Four things. First, costly signal design — signed LOIs, reallocated budgets, co-development agreements. Evidence that's hard to fake. Second, separate synthesis from evidence — present raw data separately from interpretation, use AI as an auditor that surfaces contradictions. Third, adversarial simulation — before real interviews, AI stress-tests your assumptions. 50 adversarial AI sessions before the first real customer conversation. Fourth, mechanism design thinking — who has incentive to tell the truth, and under what conditions? Structure interactions so a 'yes' means something. These four map directly onto the research we just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fundamental reframe. On the left, AI as generator — which is where most of the conversation is today. It creates polished narratives that mask uncertainty, industrializes motivated reasoning, increases noise for investors and customers, and widens the perception-reality gap. On the right, AI as verifier — surfaces contradictions, stress-tests adversarially, identifies costly signals vs. cheap talk, and makes the truth easier to tell than to obscure. The bottom line: trust is a mechanism design problem, not a content generation problem. That's what STVP should be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areas where STVP leads. In our curriculum: building on my entrepreneurship education research, we're now incorporating AI-driven ideation into our refugee entrepreneurship program in Uganda. Hannah and O'Mahony's new AMLE paper confirms what we experience — entrepreneurship is a 'field in flux,' and AI amplifies that flux. In our research: Riitta Katila and Yong Li are using AI to predict startup outcomes. Our current PhD students are pursuing exactly these questions — not just whether AI works, but when, for whom, and under what conditions. In our community: you — STVP alumni and supporters — are uniquely positioned as founders, investors, and educators to pioneer verification-first approaches in your own organizations. The call to action is real and immediate.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entrepreneurship isn't about being the loudest — it's about being the most verifiable. Thank you. I'd love to hear from you — how are you seeing this play out in your own ventures and organizations? And please do engage with STVP — we need your perspectives and your support as we navigate this transformation together. My Substack and contact info are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youtu.be/aBjtSBEzgqU?si=PsKHunqd8dEUN_6a&amp;t=1728"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rot="900000">
            <a:off x="6858000" y="-457200"/>
            <a:ext cx="3200400" cy="2286000"/>
          </a:xfrm>
          <a:prstGeom prst="rect">
            <a:avLst/>
          </a:prstGeom>
          <a:solidFill>
            <a:srgbClr val="8C1515">
              <a:alpha val="85000"/>
            </a:srgbClr>
          </a:solidFill>
          <a:ln/>
        </p:spPr>
      </p:sp>
      <p:sp>
        <p:nvSpPr>
          <p:cNvPr id="3" name="Text 1"/>
          <p:cNvSpPr/>
          <p:nvPr/>
        </p:nvSpPr>
        <p:spPr>
          <a:xfrm>
            <a:off x="731520" y="914400"/>
            <a:ext cx="7680960" cy="1097280"/>
          </a:xfrm>
          <a:prstGeom prst="rect">
            <a:avLst/>
          </a:prstGeom>
          <a:noFill/>
          <a:ln/>
        </p:spPr>
        <p:txBody>
          <a:bodyPr wrap="square" rtlCol="0" anchor="ctr"/>
          <a:lstStyle/>
          <a:p>
            <a:pPr indent="0" marL="0">
              <a:buNone/>
            </a:pPr>
            <a:r>
              <a:rPr lang="en-US" sz="4400" b="1" spc="300" kern="0" dirty="0">
                <a:solidFill>
                  <a:srgbClr val="FFFFFF"/>
                </a:solidFill>
                <a:latin typeface="Georgia" pitchFamily="34" charset="0"/>
                <a:ea typeface="Georgia" pitchFamily="34" charset="-122"/>
                <a:cs typeface="Georgia" pitchFamily="34" charset="-120"/>
              </a:rPr>
              <a:t>AI &amp; EDUCATION</a:t>
            </a:r>
            <a:endParaRPr lang="en-US" sz="4400" dirty="0"/>
          </a:p>
        </p:txBody>
      </p:sp>
      <p:sp>
        <p:nvSpPr>
          <p:cNvPr id="4" name="Text 2"/>
          <p:cNvSpPr/>
          <p:nvPr/>
        </p:nvSpPr>
        <p:spPr>
          <a:xfrm>
            <a:off x="731520" y="2011680"/>
            <a:ext cx="7680960" cy="640080"/>
          </a:xfrm>
          <a:prstGeom prst="rect">
            <a:avLst/>
          </a:prstGeom>
          <a:noFill/>
          <a:ln/>
        </p:spPr>
        <p:txBody>
          <a:bodyPr wrap="square" rtlCol="0" anchor="ctr"/>
          <a:lstStyle/>
          <a:p>
            <a:pPr indent="0" marL="0">
              <a:buNone/>
            </a:pPr>
            <a:r>
              <a:rPr lang="en-US" sz="2600" i="1" dirty="0">
                <a:solidFill>
                  <a:srgbClr val="0F969C"/>
                </a:solidFill>
                <a:latin typeface="Calibri" pitchFamily="34" charset="0"/>
                <a:ea typeface="Calibri" pitchFamily="34" charset="-122"/>
                <a:cs typeface="Calibri" pitchFamily="34" charset="-120"/>
              </a:rPr>
              <a:t>From Generation to Verification</a:t>
            </a:r>
            <a:endParaRPr lang="en-US" sz="2600" dirty="0"/>
          </a:p>
        </p:txBody>
      </p:sp>
      <p:sp>
        <p:nvSpPr>
          <p:cNvPr id="5" name="Shape 3"/>
          <p:cNvSpPr/>
          <p:nvPr/>
        </p:nvSpPr>
        <p:spPr>
          <a:xfrm>
            <a:off x="731520" y="2834640"/>
            <a:ext cx="2286000" cy="36576"/>
          </a:xfrm>
          <a:prstGeom prst="rect">
            <a:avLst/>
          </a:prstGeom>
          <a:solidFill>
            <a:srgbClr val="E94560"/>
          </a:solidFill>
          <a:ln/>
        </p:spPr>
      </p:sp>
      <p:sp>
        <p:nvSpPr>
          <p:cNvPr id="6" name="Text 4"/>
          <p:cNvSpPr/>
          <p:nvPr/>
        </p:nvSpPr>
        <p:spPr>
          <a:xfrm>
            <a:off x="731520" y="3108960"/>
            <a:ext cx="7680960" cy="457200"/>
          </a:xfrm>
          <a:prstGeom prst="rect">
            <a:avLst/>
          </a:prstGeom>
          <a:noFill/>
          <a:ln/>
        </p:spPr>
        <p:txBody>
          <a:bodyPr wrap="square" rtlCol="0" anchor="ctr"/>
          <a:lstStyle/>
          <a:p>
            <a:pPr indent="0" marL="0">
              <a:buNone/>
            </a:pPr>
            <a:r>
              <a:rPr lang="en-US" sz="1600" dirty="0">
                <a:solidFill>
                  <a:srgbClr val="CBD5E1"/>
                </a:solidFill>
                <a:latin typeface="Calibri" pitchFamily="34" charset="0"/>
                <a:ea typeface="Calibri" pitchFamily="34" charset="-122"/>
                <a:cs typeface="Calibri" pitchFamily="34" charset="-120"/>
              </a:rPr>
              <a:t>Chuck Eesley  |  Stanford STVP</a:t>
            </a:r>
            <a:endParaRPr lang="en-US" sz="1600" dirty="0"/>
          </a:p>
        </p:txBody>
      </p:sp>
      <p:sp>
        <p:nvSpPr>
          <p:cNvPr id="7" name="Text 5"/>
          <p:cNvSpPr/>
          <p:nvPr/>
        </p:nvSpPr>
        <p:spPr>
          <a:xfrm>
            <a:off x="731520" y="3566160"/>
            <a:ext cx="7680960" cy="457200"/>
          </a:xfrm>
          <a:prstGeom prst="rect">
            <a:avLst/>
          </a:prstGeom>
          <a:noFill/>
          <a:ln/>
        </p:spPr>
        <p:txBody>
          <a:bodyPr wrap="square" rtlCol="0" anchor="ctr"/>
          <a:lstStyle/>
          <a:p>
            <a:pPr indent="0" marL="0">
              <a:buNone/>
            </a:pPr>
            <a:r>
              <a:rPr lang="en-US" sz="1300" dirty="0">
                <a:solidFill>
                  <a:srgbClr val="9CA3AF"/>
                </a:solidFill>
                <a:latin typeface="Calibri" pitchFamily="34" charset="0"/>
                <a:ea typeface="Calibri" pitchFamily="34" charset="-122"/>
                <a:cs typeface="Calibri" pitchFamily="34" charset="-120"/>
              </a:rPr>
              <a:t>Building on STVP Traditions in Entrepreneurship &amp; Technology</a:t>
            </a:r>
            <a:endParaRPr lang="en-US" sz="1300" dirty="0"/>
          </a:p>
        </p:txBody>
      </p:sp>
      <p:sp>
        <p:nvSpPr>
          <p:cNvPr id="8" name="Shape 6"/>
          <p:cNvSpPr/>
          <p:nvPr/>
        </p:nvSpPr>
        <p:spPr>
          <a:xfrm>
            <a:off x="0" y="4892040"/>
            <a:ext cx="9144000" cy="251460"/>
          </a:xfrm>
          <a:prstGeom prst="rect">
            <a:avLst/>
          </a:prstGeom>
          <a:solidFill>
            <a:srgbClr val="8C151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The STVP Foundation We Build On</a:t>
            </a:r>
            <a:endParaRPr lang="en-US" sz="3200" dirty="0"/>
          </a:p>
        </p:txBody>
      </p:sp>
      <p:sp>
        <p:nvSpPr>
          <p:cNvPr id="3" name="Shape 1"/>
          <p:cNvSpPr/>
          <p:nvPr/>
        </p:nvSpPr>
        <p:spPr>
          <a:xfrm>
            <a:off x="548640" y="1371600"/>
            <a:ext cx="2560320" cy="2926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548640" y="1371600"/>
            <a:ext cx="2560320" cy="73152"/>
          </a:xfrm>
          <a:prstGeom prst="rect">
            <a:avLst/>
          </a:prstGeom>
          <a:solidFill>
            <a:srgbClr val="8C1515"/>
          </a:solidFill>
          <a:ln/>
        </p:spPr>
      </p:sp>
      <p:sp>
        <p:nvSpPr>
          <p:cNvPr id="5" name="Text 3"/>
          <p:cNvSpPr/>
          <p:nvPr/>
        </p:nvSpPr>
        <p:spPr>
          <a:xfrm>
            <a:off x="731520" y="1645920"/>
            <a:ext cx="2194560" cy="914400"/>
          </a:xfrm>
          <a:prstGeom prst="rect">
            <a:avLst/>
          </a:prstGeom>
          <a:noFill/>
          <a:ln/>
        </p:spPr>
        <p:txBody>
          <a:bodyPr wrap="square" rtlCol="0" anchor="t"/>
          <a:lstStyle/>
          <a:p>
            <a:pPr indent="0" marL="0">
              <a:buNone/>
            </a:pPr>
            <a:r>
              <a:rPr lang="en-US" sz="1800" b="1" dirty="0">
                <a:solidFill>
                  <a:srgbClr val="8C1515"/>
                </a:solidFill>
                <a:latin typeface="Georgia" pitchFamily="34" charset="0"/>
                <a:ea typeface="Georgia" pitchFamily="34" charset="-122"/>
                <a:cs typeface="Georgia" pitchFamily="34" charset="-120"/>
              </a:rPr>
              <a:t>Entrepreneurial</a:t>
            </a:r>
            <a:endParaRPr lang="en-US" sz="1800" dirty="0"/>
          </a:p>
          <a:p>
            <a:pPr indent="0" marL="0">
              <a:buNone/>
            </a:pPr>
            <a:r>
              <a:rPr lang="en-US" sz="1800" b="1" dirty="0">
                <a:solidFill>
                  <a:srgbClr val="8C1515"/>
                </a:solidFill>
                <a:latin typeface="Georgia" pitchFamily="34" charset="0"/>
                <a:ea typeface="Georgia" pitchFamily="34" charset="-122"/>
                <a:cs typeface="Georgia" pitchFamily="34" charset="-120"/>
              </a:rPr>
              <a:t>Mindset</a:t>
            </a:r>
            <a:endParaRPr lang="en-US" sz="1800" dirty="0"/>
          </a:p>
        </p:txBody>
      </p:sp>
      <p:sp>
        <p:nvSpPr>
          <p:cNvPr id="6" name="Text 4"/>
          <p:cNvSpPr/>
          <p:nvPr/>
        </p:nvSpPr>
        <p:spPr>
          <a:xfrm>
            <a:off x="731520" y="2651760"/>
            <a:ext cx="2194560" cy="1371600"/>
          </a:xfrm>
          <a:prstGeom prst="rect">
            <a:avLst/>
          </a:prstGeom>
          <a:noFill/>
          <a:ln/>
        </p:spPr>
        <p:txBody>
          <a:bodyPr wrap="square" rtlCol="0" anchor="t"/>
          <a:lstStyle/>
          <a:p>
            <a:pPr indent="0" marL="0">
              <a:buNone/>
            </a:pPr>
            <a:r>
              <a:rPr lang="en-US" sz="1200" dirty="0">
                <a:solidFill>
                  <a:srgbClr val="374151"/>
                </a:solidFill>
                <a:latin typeface="Calibri" pitchFamily="34" charset="0"/>
                <a:ea typeface="Calibri" pitchFamily="34" charset="-122"/>
                <a:cs typeface="Calibri" pitchFamily="34" charset="-120"/>
              </a:rPr>
              <a:t>Experiential learning, venture formation, getting out of the building</a:t>
            </a:r>
            <a:endParaRPr lang="en-US" sz="1200" dirty="0"/>
          </a:p>
        </p:txBody>
      </p:sp>
      <p:sp>
        <p:nvSpPr>
          <p:cNvPr id="7" name="Shape 5"/>
          <p:cNvSpPr/>
          <p:nvPr/>
        </p:nvSpPr>
        <p:spPr>
          <a:xfrm>
            <a:off x="3383280" y="1371600"/>
            <a:ext cx="2560320" cy="2926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383280" y="1371600"/>
            <a:ext cx="2560320" cy="73152"/>
          </a:xfrm>
          <a:prstGeom prst="rect">
            <a:avLst/>
          </a:prstGeom>
          <a:solidFill>
            <a:srgbClr val="0F969C"/>
          </a:solidFill>
          <a:ln/>
        </p:spPr>
      </p:sp>
      <p:sp>
        <p:nvSpPr>
          <p:cNvPr id="9" name="Text 7"/>
          <p:cNvSpPr/>
          <p:nvPr/>
        </p:nvSpPr>
        <p:spPr>
          <a:xfrm>
            <a:off x="3566160" y="1645920"/>
            <a:ext cx="2194560" cy="914400"/>
          </a:xfrm>
          <a:prstGeom prst="rect">
            <a:avLst/>
          </a:prstGeom>
          <a:noFill/>
          <a:ln/>
        </p:spPr>
        <p:txBody>
          <a:bodyPr wrap="square" rtlCol="0" anchor="t"/>
          <a:lstStyle/>
          <a:p>
            <a:pPr indent="0" marL="0">
              <a:buNone/>
            </a:pPr>
            <a:r>
              <a:rPr lang="en-US" sz="1800" b="1" dirty="0">
                <a:solidFill>
                  <a:srgbClr val="0F969C"/>
                </a:solidFill>
                <a:latin typeface="Georgia" pitchFamily="34" charset="0"/>
                <a:ea typeface="Georgia" pitchFamily="34" charset="-122"/>
                <a:cs typeface="Georgia" pitchFamily="34" charset="-120"/>
              </a:rPr>
              <a:t>Technology</a:t>
            </a:r>
            <a:endParaRPr lang="en-US" sz="1800" dirty="0"/>
          </a:p>
          <a:p>
            <a:pPr indent="0" marL="0">
              <a:buNone/>
            </a:pPr>
            <a:r>
              <a:rPr lang="en-US" sz="1800" b="1" dirty="0">
                <a:solidFill>
                  <a:srgbClr val="0F969C"/>
                </a:solidFill>
                <a:latin typeface="Georgia" pitchFamily="34" charset="0"/>
                <a:ea typeface="Georgia" pitchFamily="34" charset="-122"/>
                <a:cs typeface="Georgia" pitchFamily="34" charset="-120"/>
              </a:rPr>
              <a:t>&amp; Society</a:t>
            </a:r>
            <a:endParaRPr lang="en-US" sz="1800" dirty="0"/>
          </a:p>
        </p:txBody>
      </p:sp>
      <p:sp>
        <p:nvSpPr>
          <p:cNvPr id="10" name="Text 8"/>
          <p:cNvSpPr/>
          <p:nvPr/>
        </p:nvSpPr>
        <p:spPr>
          <a:xfrm>
            <a:off x="3566160" y="2651760"/>
            <a:ext cx="2194560" cy="1371600"/>
          </a:xfrm>
          <a:prstGeom prst="rect">
            <a:avLst/>
          </a:prstGeom>
          <a:noFill/>
          <a:ln/>
        </p:spPr>
        <p:txBody>
          <a:bodyPr wrap="square" rtlCol="0" anchor="t"/>
          <a:lstStyle/>
          <a:p>
            <a:pPr indent="0" marL="0">
              <a:buNone/>
            </a:pPr>
            <a:r>
              <a:rPr lang="en-US" sz="1200" dirty="0">
                <a:solidFill>
                  <a:srgbClr val="374151"/>
                </a:solidFill>
                <a:latin typeface="Calibri" pitchFamily="34" charset="0"/>
                <a:ea typeface="Calibri" pitchFamily="34" charset="-122"/>
                <a:cs typeface="Calibri" pitchFamily="34" charset="-120"/>
              </a:rPr>
              <a:t>Understanding how technology transforms industries and shapes human outcomes</a:t>
            </a:r>
            <a:endParaRPr lang="en-US" sz="1200" dirty="0"/>
          </a:p>
        </p:txBody>
      </p:sp>
      <p:sp>
        <p:nvSpPr>
          <p:cNvPr id="11" name="Shape 9"/>
          <p:cNvSpPr/>
          <p:nvPr/>
        </p:nvSpPr>
        <p:spPr>
          <a:xfrm>
            <a:off x="6217920" y="1371600"/>
            <a:ext cx="2560320" cy="29260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6217920" y="1371600"/>
            <a:ext cx="2560320" cy="73152"/>
          </a:xfrm>
          <a:prstGeom prst="rect">
            <a:avLst/>
          </a:prstGeom>
          <a:solidFill>
            <a:srgbClr val="16213E"/>
          </a:solidFill>
          <a:ln/>
        </p:spPr>
      </p:sp>
      <p:sp>
        <p:nvSpPr>
          <p:cNvPr id="13" name="Text 11"/>
          <p:cNvSpPr/>
          <p:nvPr/>
        </p:nvSpPr>
        <p:spPr>
          <a:xfrm>
            <a:off x="6400800" y="1645920"/>
            <a:ext cx="2194560" cy="914400"/>
          </a:xfrm>
          <a:prstGeom prst="rect">
            <a:avLst/>
          </a:prstGeom>
          <a:noFill/>
          <a:ln/>
        </p:spPr>
        <p:txBody>
          <a:bodyPr wrap="square" rtlCol="0" anchor="t"/>
          <a:lstStyle/>
          <a:p>
            <a:pPr indent="0" marL="0">
              <a:buNone/>
            </a:pPr>
            <a:r>
              <a:rPr lang="en-US" sz="1800" b="1" dirty="0">
                <a:solidFill>
                  <a:srgbClr val="16213E"/>
                </a:solidFill>
                <a:latin typeface="Georgia" pitchFamily="34" charset="0"/>
                <a:ea typeface="Georgia" pitchFamily="34" charset="-122"/>
                <a:cs typeface="Georgia" pitchFamily="34" charset="-120"/>
              </a:rPr>
              <a:t>Rigorous</a:t>
            </a:r>
            <a:endParaRPr lang="en-US" sz="1800" dirty="0"/>
          </a:p>
          <a:p>
            <a:pPr indent="0" marL="0">
              <a:buNone/>
            </a:pPr>
            <a:r>
              <a:rPr lang="en-US" sz="1800" b="1" dirty="0">
                <a:solidFill>
                  <a:srgbClr val="16213E"/>
                </a:solidFill>
                <a:latin typeface="Georgia" pitchFamily="34" charset="0"/>
                <a:ea typeface="Georgia" pitchFamily="34" charset="-122"/>
                <a:cs typeface="Georgia" pitchFamily="34" charset="-120"/>
              </a:rPr>
              <a:t>Research</a:t>
            </a:r>
            <a:endParaRPr lang="en-US" sz="1800" dirty="0"/>
          </a:p>
        </p:txBody>
      </p:sp>
      <p:sp>
        <p:nvSpPr>
          <p:cNvPr id="14" name="Text 12"/>
          <p:cNvSpPr/>
          <p:nvPr/>
        </p:nvSpPr>
        <p:spPr>
          <a:xfrm>
            <a:off x="6400800" y="2651760"/>
            <a:ext cx="2194560" cy="1371600"/>
          </a:xfrm>
          <a:prstGeom prst="rect">
            <a:avLst/>
          </a:prstGeom>
          <a:noFill/>
          <a:ln/>
        </p:spPr>
        <p:txBody>
          <a:bodyPr wrap="square" rtlCol="0" anchor="t"/>
          <a:lstStyle/>
          <a:p>
            <a:pPr indent="0" marL="0">
              <a:buNone/>
            </a:pPr>
            <a:r>
              <a:rPr lang="en-US" sz="1200" dirty="0">
                <a:solidFill>
                  <a:srgbClr val="374151"/>
                </a:solidFill>
                <a:latin typeface="Calibri" pitchFamily="34" charset="0"/>
                <a:ea typeface="Calibri" pitchFamily="34" charset="-122"/>
                <a:cs typeface="Calibri" pitchFamily="34" charset="-120"/>
              </a:rPr>
              <a:t>Evidence-based approaches to entrepreneurship, not just storytelling</a:t>
            </a:r>
            <a:endParaRPr lang="en-US" sz="1200" dirty="0"/>
          </a:p>
        </p:txBody>
      </p:sp>
      <p:sp>
        <p:nvSpPr>
          <p:cNvPr id="15" name="Shape 13"/>
          <p:cNvSpPr/>
          <p:nvPr/>
        </p:nvSpPr>
        <p:spPr>
          <a:xfrm>
            <a:off x="548640" y="4206240"/>
            <a:ext cx="8046720" cy="594360"/>
          </a:xfrm>
          <a:prstGeom prst="roundRect">
            <a:avLst>
              <a:gd name="adj" fmla="val 12308"/>
            </a:avLst>
          </a:prstGeom>
          <a:solidFill>
            <a:srgbClr val="16213E"/>
          </a:solidFill>
          <a:ln/>
        </p:spPr>
      </p:sp>
      <p:sp>
        <p:nvSpPr>
          <p:cNvPr id="16" name="Text 14"/>
          <p:cNvSpPr/>
          <p:nvPr/>
        </p:nvSpPr>
        <p:spPr>
          <a:xfrm>
            <a:off x="731520" y="4224528"/>
            <a:ext cx="7680960" cy="548640"/>
          </a:xfrm>
          <a:prstGeom prst="rect">
            <a:avLst/>
          </a:prstGeom>
          <a:noFill/>
          <a:ln/>
        </p:spPr>
        <p:txBody>
          <a:bodyPr wrap="square" rtlCol="0" anchor="ctr"/>
          <a:lstStyle/>
          <a:p>
            <a:pPr indent="0" marL="0">
              <a:buNone/>
            </a:pPr>
            <a:r>
              <a:rPr lang="en-US" sz="1150" b="1" dirty="0">
                <a:solidFill>
                  <a:srgbClr val="0F969C"/>
                </a:solidFill>
                <a:latin typeface="Calibri" pitchFamily="34" charset="0"/>
                <a:ea typeface="Calibri" pitchFamily="34" charset="-122"/>
                <a:cs typeface="Calibri" pitchFamily="34" charset="-120"/>
              </a:rPr>
              <a:t>Steve Blank, MS&amp;E 25th Anniversary: </a:t>
            </a:r>
            <a:pPr indent="0" marL="0">
              <a:buNone/>
            </a:pPr>
            <a:r>
              <a:rPr lang="en-US" sz="1150" i="1" dirty="0">
                <a:solidFill>
                  <a:srgbClr val="CBD5E1"/>
                </a:solidFill>
                <a:latin typeface="Calibri" pitchFamily="34" charset="0"/>
                <a:ea typeface="Calibri" pitchFamily="34" charset="-122"/>
                <a:cs typeface="Calibri" pitchFamily="34" charset="-120"/>
              </a:rPr>
              <a:t>AI is transforming how we build and test business models — the very foundation of what we teach.  </a:t>
            </a:r>
            <a:pPr indent="0" marL="0">
              <a:buNone/>
            </a:pPr>
            <a:r>
              <a:rPr lang="en-US" sz="1000" u="sng" dirty="0">
                <a:solidFill>
                  <a:srgbClr val="F5A62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Video clip</a:t>
            </a:r>
            <a:endParaRPr lang="en-US" sz="1150" dirty="0"/>
          </a:p>
        </p:txBody>
      </p:sp>
      <p:sp>
        <p:nvSpPr>
          <p:cNvPr id="17" name="Shape 15"/>
          <p:cNvSpPr/>
          <p:nvPr/>
        </p:nvSpPr>
        <p:spPr>
          <a:xfrm>
            <a:off x="0" y="4892040"/>
            <a:ext cx="9144000" cy="251460"/>
          </a:xfrm>
          <a:prstGeom prst="rect">
            <a:avLst/>
          </a:prstGeom>
          <a:solidFill>
            <a:srgbClr val="8C1515"/>
          </a:solidFill>
          <a:ln/>
        </p:spPr>
      </p:sp>
      <p:sp>
        <p:nvSpPr>
          <p:cNvPr id="19" name="Text 16"/>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Extraordinary Promise</a:t>
            </a:r>
            <a:endParaRPr lang="en-US" sz="3200" dirty="0"/>
          </a:p>
        </p:txBody>
      </p:sp>
      <p:sp>
        <p:nvSpPr>
          <p:cNvPr id="3" name="Shape 1"/>
          <p:cNvSpPr/>
          <p:nvPr/>
        </p:nvSpPr>
        <p:spPr>
          <a:xfrm>
            <a:off x="457200" y="1371600"/>
            <a:ext cx="2651760" cy="274320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4" name="Text 2"/>
          <p:cNvSpPr/>
          <p:nvPr/>
        </p:nvSpPr>
        <p:spPr>
          <a:xfrm>
            <a:off x="457200" y="1554480"/>
            <a:ext cx="2651760" cy="914400"/>
          </a:xfrm>
          <a:prstGeom prst="rect">
            <a:avLst/>
          </a:prstGeom>
          <a:noFill/>
          <a:ln/>
        </p:spPr>
        <p:txBody>
          <a:bodyPr wrap="square" rtlCol="0" anchor="ctr"/>
          <a:lstStyle/>
          <a:p>
            <a:pPr algn="ctr" indent="0" marL="0">
              <a:buNone/>
            </a:pPr>
            <a:r>
              <a:rPr lang="en-US" sz="4000" b="1" dirty="0">
                <a:solidFill>
                  <a:srgbClr val="0F969C"/>
                </a:solidFill>
                <a:latin typeface="Georgia" pitchFamily="34" charset="0"/>
                <a:ea typeface="Georgia" pitchFamily="34" charset="-122"/>
                <a:cs typeface="Georgia" pitchFamily="34" charset="-120"/>
              </a:rPr>
              <a:t>+34%</a:t>
            </a:r>
            <a:endParaRPr lang="en-US" sz="4000" dirty="0"/>
          </a:p>
        </p:txBody>
      </p:sp>
      <p:sp>
        <p:nvSpPr>
          <p:cNvPr id="5" name="Text 3"/>
          <p:cNvSpPr/>
          <p:nvPr/>
        </p:nvSpPr>
        <p:spPr>
          <a:xfrm>
            <a:off x="685800" y="2468880"/>
            <a:ext cx="2194560" cy="1097280"/>
          </a:xfrm>
          <a:prstGeom prst="rect">
            <a:avLst/>
          </a:prstGeom>
          <a:noFill/>
          <a:ln/>
        </p:spPr>
        <p:txBody>
          <a:bodyPr wrap="square" rtlCol="0" anchor="ctr"/>
          <a:lstStyle/>
          <a:p>
            <a:pPr algn="ctr" indent="0" marL="0">
              <a:buNone/>
            </a:pPr>
            <a:r>
              <a:rPr lang="en-US" sz="1300" dirty="0">
                <a:solidFill>
                  <a:srgbClr val="CBD5E1"/>
                </a:solidFill>
                <a:latin typeface="Calibri" pitchFamily="34" charset="0"/>
                <a:ea typeface="Calibri" pitchFamily="34" charset="-122"/>
                <a:cs typeface="Calibri" pitchFamily="34" charset="-120"/>
              </a:rPr>
              <a:t>Quality improvement for</a:t>
            </a:r>
            <a:endParaRPr lang="en-US" sz="1300" dirty="0"/>
          </a:p>
          <a:p>
            <a:pPr algn="ctr" indent="0" marL="0">
              <a:buNone/>
            </a:pPr>
            <a:r>
              <a:rPr lang="en-US" sz="1300" dirty="0">
                <a:solidFill>
                  <a:srgbClr val="CBD5E1"/>
                </a:solidFill>
                <a:latin typeface="Calibri" pitchFamily="34" charset="0"/>
                <a:ea typeface="Calibri" pitchFamily="34" charset="-122"/>
                <a:cs typeface="Calibri" pitchFamily="34" charset="-120"/>
              </a:rPr>
              <a:t>consultants using AI on</a:t>
            </a:r>
            <a:endParaRPr lang="en-US" sz="1300" dirty="0"/>
          </a:p>
          <a:p>
            <a:pPr algn="ctr" indent="0" marL="0">
              <a:buNone/>
            </a:pPr>
            <a:r>
              <a:rPr lang="en-US" sz="1300" dirty="0">
                <a:solidFill>
                  <a:srgbClr val="CBD5E1"/>
                </a:solidFill>
                <a:latin typeface="Calibri" pitchFamily="34" charset="0"/>
                <a:ea typeface="Calibri" pitchFamily="34" charset="-122"/>
                <a:cs typeface="Calibri" pitchFamily="34" charset="-120"/>
              </a:rPr>
              <a:t>tasks inside the frontier</a:t>
            </a:r>
            <a:endParaRPr lang="en-US" sz="1300" dirty="0"/>
          </a:p>
        </p:txBody>
      </p:sp>
      <p:sp>
        <p:nvSpPr>
          <p:cNvPr id="6" name="Text 4"/>
          <p:cNvSpPr/>
          <p:nvPr/>
        </p:nvSpPr>
        <p:spPr>
          <a:xfrm>
            <a:off x="685800" y="3566160"/>
            <a:ext cx="2194560" cy="36576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Dell'Acqua et al. 2026</a:t>
            </a:r>
            <a:endParaRPr lang="en-US" sz="900" dirty="0"/>
          </a:p>
        </p:txBody>
      </p:sp>
      <p:sp>
        <p:nvSpPr>
          <p:cNvPr id="7" name="Shape 5"/>
          <p:cNvSpPr/>
          <p:nvPr/>
        </p:nvSpPr>
        <p:spPr>
          <a:xfrm>
            <a:off x="3383280" y="1371600"/>
            <a:ext cx="2651760" cy="274320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8" name="Text 6"/>
          <p:cNvSpPr/>
          <p:nvPr/>
        </p:nvSpPr>
        <p:spPr>
          <a:xfrm>
            <a:off x="3383280" y="1554480"/>
            <a:ext cx="2651760" cy="914400"/>
          </a:xfrm>
          <a:prstGeom prst="rect">
            <a:avLst/>
          </a:prstGeom>
          <a:noFill/>
          <a:ln/>
        </p:spPr>
        <p:txBody>
          <a:bodyPr wrap="square" rtlCol="0" anchor="ctr"/>
          <a:lstStyle/>
          <a:p>
            <a:pPr algn="ctr" indent="0" marL="0">
              <a:buNone/>
            </a:pPr>
            <a:r>
              <a:rPr lang="en-US" sz="4000" b="1" dirty="0">
                <a:solidFill>
                  <a:srgbClr val="0F969C"/>
                </a:solidFill>
                <a:latin typeface="Georgia" pitchFamily="34" charset="0"/>
                <a:ea typeface="Georgia" pitchFamily="34" charset="-122"/>
                <a:cs typeface="Georgia" pitchFamily="34" charset="-120"/>
              </a:rPr>
              <a:t>+12%</a:t>
            </a:r>
            <a:endParaRPr lang="en-US" sz="4000" dirty="0"/>
          </a:p>
        </p:txBody>
      </p:sp>
      <p:sp>
        <p:nvSpPr>
          <p:cNvPr id="9" name="Text 7"/>
          <p:cNvSpPr/>
          <p:nvPr/>
        </p:nvSpPr>
        <p:spPr>
          <a:xfrm>
            <a:off x="3611880" y="2468880"/>
            <a:ext cx="2194560" cy="1097280"/>
          </a:xfrm>
          <a:prstGeom prst="rect">
            <a:avLst/>
          </a:prstGeom>
          <a:noFill/>
          <a:ln/>
        </p:spPr>
        <p:txBody>
          <a:bodyPr wrap="square" rtlCol="0" anchor="ctr"/>
          <a:lstStyle/>
          <a:p>
            <a:pPr algn="ctr" indent="0" marL="0">
              <a:buNone/>
            </a:pPr>
            <a:r>
              <a:rPr lang="en-US" sz="1300" dirty="0">
                <a:solidFill>
                  <a:srgbClr val="CBD5E1"/>
                </a:solidFill>
                <a:latin typeface="Calibri" pitchFamily="34" charset="0"/>
                <a:ea typeface="Calibri" pitchFamily="34" charset="-122"/>
                <a:cs typeface="Calibri" pitchFamily="34" charset="-120"/>
              </a:rPr>
              <a:t>More tasks completed,</a:t>
            </a:r>
            <a:endParaRPr lang="en-US" sz="1300" dirty="0"/>
          </a:p>
          <a:p>
            <a:pPr algn="ctr" indent="0" marL="0">
              <a:buNone/>
            </a:pPr>
            <a:r>
              <a:rPr lang="en-US" sz="1300" dirty="0">
                <a:solidFill>
                  <a:srgbClr val="CBD5E1"/>
                </a:solidFill>
                <a:latin typeface="Calibri" pitchFamily="34" charset="0"/>
                <a:ea typeface="Calibri" pitchFamily="34" charset="-122"/>
                <a:cs typeface="Calibri" pitchFamily="34" charset="-120"/>
              </a:rPr>
              <a:t>25% faster with</a:t>
            </a:r>
            <a:endParaRPr lang="en-US" sz="1300" dirty="0"/>
          </a:p>
          <a:p>
            <a:pPr algn="ctr" indent="0" marL="0">
              <a:buNone/>
            </a:pPr>
            <a:r>
              <a:rPr lang="en-US" sz="1300" dirty="0">
                <a:solidFill>
                  <a:srgbClr val="CBD5E1"/>
                </a:solidFill>
                <a:latin typeface="Calibri" pitchFamily="34" charset="0"/>
                <a:ea typeface="Calibri" pitchFamily="34" charset="-122"/>
                <a:cs typeface="Calibri" pitchFamily="34" charset="-120"/>
              </a:rPr>
              <a:t>significantly higher quality</a:t>
            </a:r>
            <a:endParaRPr lang="en-US" sz="1300" dirty="0"/>
          </a:p>
        </p:txBody>
      </p:sp>
      <p:sp>
        <p:nvSpPr>
          <p:cNvPr id="10" name="Text 8"/>
          <p:cNvSpPr/>
          <p:nvPr/>
        </p:nvSpPr>
        <p:spPr>
          <a:xfrm>
            <a:off x="3611880" y="3566160"/>
            <a:ext cx="2194560" cy="36576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Dell'Acqua et al. 2026</a:t>
            </a:r>
            <a:endParaRPr lang="en-US" sz="900" dirty="0"/>
          </a:p>
        </p:txBody>
      </p:sp>
      <p:sp>
        <p:nvSpPr>
          <p:cNvPr id="11" name="Shape 9"/>
          <p:cNvSpPr/>
          <p:nvPr/>
        </p:nvSpPr>
        <p:spPr>
          <a:xfrm>
            <a:off x="6309360" y="1371600"/>
            <a:ext cx="2651760" cy="274320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12" name="Text 10"/>
          <p:cNvSpPr/>
          <p:nvPr/>
        </p:nvSpPr>
        <p:spPr>
          <a:xfrm>
            <a:off x="6309360" y="1554480"/>
            <a:ext cx="2651760" cy="914400"/>
          </a:xfrm>
          <a:prstGeom prst="rect">
            <a:avLst/>
          </a:prstGeom>
          <a:noFill/>
          <a:ln/>
        </p:spPr>
        <p:txBody>
          <a:bodyPr wrap="square" rtlCol="0" anchor="ctr"/>
          <a:lstStyle/>
          <a:p>
            <a:pPr algn="ctr" indent="0" marL="0">
              <a:buNone/>
            </a:pPr>
            <a:r>
              <a:rPr lang="en-US" sz="4000" b="1" dirty="0">
                <a:solidFill>
                  <a:srgbClr val="0F969C"/>
                </a:solidFill>
                <a:latin typeface="Georgia" pitchFamily="34" charset="0"/>
                <a:ea typeface="Georgia" pitchFamily="34" charset="-122"/>
                <a:cs typeface="Georgia" pitchFamily="34" charset="-120"/>
              </a:rPr>
              <a:t>r = 0.52</a:t>
            </a:r>
            <a:endParaRPr lang="en-US" sz="4000" dirty="0"/>
          </a:p>
        </p:txBody>
      </p:sp>
      <p:sp>
        <p:nvSpPr>
          <p:cNvPr id="13" name="Text 11"/>
          <p:cNvSpPr/>
          <p:nvPr/>
        </p:nvSpPr>
        <p:spPr>
          <a:xfrm>
            <a:off x="6537960" y="2468880"/>
            <a:ext cx="2194560" cy="1097280"/>
          </a:xfrm>
          <a:prstGeom prst="rect">
            <a:avLst/>
          </a:prstGeom>
          <a:noFill/>
          <a:ln/>
        </p:spPr>
        <p:txBody>
          <a:bodyPr wrap="square" rtlCol="0" anchor="ctr"/>
          <a:lstStyle/>
          <a:p>
            <a:pPr algn="ctr" indent="0" marL="0">
              <a:buNone/>
            </a:pPr>
            <a:r>
              <a:rPr lang="en-US" sz="1300" dirty="0">
                <a:solidFill>
                  <a:srgbClr val="CBD5E1"/>
                </a:solidFill>
                <a:latin typeface="Calibri" pitchFamily="34" charset="0"/>
                <a:ea typeface="Calibri" pitchFamily="34" charset="-122"/>
                <a:cs typeface="Calibri" pitchFamily="34" charset="-120"/>
              </a:rPr>
              <a:t>Correlation between AI</a:t>
            </a:r>
            <a:endParaRPr lang="en-US" sz="1300" dirty="0"/>
          </a:p>
          <a:p>
            <a:pPr algn="ctr" indent="0" marL="0">
              <a:buNone/>
            </a:pPr>
            <a:r>
              <a:rPr lang="en-US" sz="1300" dirty="0">
                <a:solidFill>
                  <a:srgbClr val="CBD5E1"/>
                </a:solidFill>
                <a:latin typeface="Calibri" pitchFamily="34" charset="0"/>
                <a:ea typeface="Calibri" pitchFamily="34" charset="-122"/>
                <a:cs typeface="Calibri" pitchFamily="34" charset="-120"/>
              </a:rPr>
              <a:t>and VC evaluations of</a:t>
            </a:r>
            <a:endParaRPr lang="en-US" sz="1300" dirty="0"/>
          </a:p>
          <a:p>
            <a:pPr algn="ctr" indent="0" marL="0">
              <a:buNone/>
            </a:pPr>
            <a:r>
              <a:rPr lang="en-US" sz="1300" dirty="0">
                <a:solidFill>
                  <a:srgbClr val="CBD5E1"/>
                </a:solidFill>
                <a:latin typeface="Calibri" pitchFamily="34" charset="0"/>
                <a:ea typeface="Calibri" pitchFamily="34" charset="-122"/>
                <a:cs typeface="Calibri" pitchFamily="34" charset="-120"/>
              </a:rPr>
              <a:t>business plans</a:t>
            </a:r>
            <a:endParaRPr lang="en-US" sz="1300" dirty="0"/>
          </a:p>
        </p:txBody>
      </p:sp>
      <p:sp>
        <p:nvSpPr>
          <p:cNvPr id="14" name="Text 12"/>
          <p:cNvSpPr/>
          <p:nvPr/>
        </p:nvSpPr>
        <p:spPr>
          <a:xfrm>
            <a:off x="6537960" y="3566160"/>
            <a:ext cx="2194560" cy="365760"/>
          </a:xfrm>
          <a:prstGeom prst="rect">
            <a:avLst/>
          </a:prstGeom>
          <a:noFill/>
          <a:ln/>
        </p:spPr>
        <p:txBody>
          <a:bodyPr wrap="square"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Csaszar et al. 2024</a:t>
            </a:r>
            <a:endParaRPr lang="en-US" sz="900" dirty="0"/>
          </a:p>
        </p:txBody>
      </p:sp>
      <p:sp>
        <p:nvSpPr>
          <p:cNvPr id="15" name="Text 13"/>
          <p:cNvSpPr/>
          <p:nvPr/>
        </p:nvSpPr>
        <p:spPr>
          <a:xfrm>
            <a:off x="731520" y="4389120"/>
            <a:ext cx="7680960" cy="365760"/>
          </a:xfrm>
          <a:prstGeom prst="rect">
            <a:avLst/>
          </a:prstGeom>
          <a:noFill/>
          <a:ln/>
        </p:spPr>
        <p:txBody>
          <a:bodyPr wrap="square" rtlCol="0" anchor="ctr"/>
          <a:lstStyle/>
          <a:p>
            <a:pPr indent="0" marL="0">
              <a:buNone/>
            </a:pPr>
            <a:r>
              <a:rPr lang="en-US" sz="1300" i="1" dirty="0">
                <a:solidFill>
                  <a:srgbClr val="F5A623"/>
                </a:solidFill>
                <a:latin typeface="Calibri" pitchFamily="34" charset="0"/>
                <a:ea typeface="Calibri" pitchFamily="34" charset="-122"/>
                <a:cs typeface="Calibri" pitchFamily="34" charset="-120"/>
              </a:rPr>
              <a:t>AI can genuinely augment human performance. But the full picture is more complex.</a:t>
            </a:r>
            <a:endParaRPr lang="en-US" sz="1300" dirty="0"/>
          </a:p>
        </p:txBody>
      </p:sp>
      <p:sp>
        <p:nvSpPr>
          <p:cNvPr id="16" name="Shape 14"/>
          <p:cNvSpPr/>
          <p:nvPr/>
        </p:nvSpPr>
        <p:spPr>
          <a:xfrm>
            <a:off x="0" y="4892040"/>
            <a:ext cx="9144000" cy="251460"/>
          </a:xfrm>
          <a:prstGeom prst="rect">
            <a:avLst/>
          </a:prstGeom>
          <a:solidFill>
            <a:srgbClr val="8C1515"/>
          </a:solidFill>
          <a:ln/>
        </p:spPr>
      </p:sp>
      <p:sp>
        <p:nvSpPr>
          <p:cNvPr id="18" name="Text 15"/>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The Jagged Technological Frontier</a:t>
            </a:r>
            <a:endParaRPr lang="en-US" sz="3000" dirty="0"/>
          </a:p>
        </p:txBody>
      </p:sp>
      <p:sp>
        <p:nvSpPr>
          <p:cNvPr id="3" name="Text 1"/>
          <p:cNvSpPr/>
          <p:nvPr/>
        </p:nvSpPr>
        <p:spPr>
          <a:xfrm>
            <a:off x="731520" y="822960"/>
            <a:ext cx="7680960" cy="32004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Dell'Acqua, Mollick, Lakhani et al. (2026) — Organization Science</a:t>
            </a:r>
            <a:endParaRPr lang="en-US" sz="1100" dirty="0"/>
          </a:p>
        </p:txBody>
      </p:sp>
      <p:sp>
        <p:nvSpPr>
          <p:cNvPr id="4" name="Shape 2"/>
          <p:cNvSpPr/>
          <p:nvPr/>
        </p:nvSpPr>
        <p:spPr>
          <a:xfrm>
            <a:off x="457200" y="1371600"/>
            <a:ext cx="3931920" cy="3108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Text 3"/>
          <p:cNvSpPr/>
          <p:nvPr/>
        </p:nvSpPr>
        <p:spPr>
          <a:xfrm>
            <a:off x="731520" y="1463040"/>
            <a:ext cx="3383280" cy="365760"/>
          </a:xfrm>
          <a:prstGeom prst="rect">
            <a:avLst/>
          </a:prstGeom>
          <a:noFill/>
          <a:ln/>
        </p:spPr>
        <p:txBody>
          <a:bodyPr wrap="square" rtlCol="0" anchor="ctr"/>
          <a:lstStyle/>
          <a:p>
            <a:pPr indent="0" marL="0">
              <a:buNone/>
            </a:pPr>
            <a:r>
              <a:rPr lang="en-US" sz="1300" b="1" dirty="0">
                <a:solidFill>
                  <a:srgbClr val="8C1515"/>
                </a:solidFill>
                <a:latin typeface="Calibri" pitchFamily="34" charset="0"/>
                <a:ea typeface="Calibri" pitchFamily="34" charset="-122"/>
                <a:cs typeface="Calibri" pitchFamily="34" charset="-120"/>
              </a:rPr>
              <a:t>758 BCG consultants in a controlled experiment</a:t>
            </a:r>
            <a:endParaRPr lang="en-US" sz="1300" dirty="0"/>
          </a:p>
        </p:txBody>
      </p:sp>
      <p:sp>
        <p:nvSpPr>
          <p:cNvPr id="6" name="Text 4"/>
          <p:cNvSpPr/>
          <p:nvPr/>
        </p:nvSpPr>
        <p:spPr>
          <a:xfrm>
            <a:off x="731520" y="1920240"/>
            <a:ext cx="3383280" cy="2286000"/>
          </a:xfrm>
          <a:prstGeom prst="rect">
            <a:avLst/>
          </a:prstGeom>
          <a:noFill/>
          <a:ln/>
        </p:spPr>
        <p:txBody>
          <a:bodyPr wrap="square" rtlCol="0" anchor="t"/>
          <a:lstStyle/>
          <a:p>
            <a:pPr indent="0" marL="0">
              <a:spcAft>
                <a:spcPts val="400"/>
              </a:spcAft>
              <a:buNone/>
            </a:pPr>
            <a:r>
              <a:rPr lang="en-US" sz="1200" b="1" dirty="0">
                <a:solidFill>
                  <a:srgbClr val="0F969C"/>
                </a:solidFill>
                <a:latin typeface="Calibri" pitchFamily="34" charset="0"/>
                <a:ea typeface="Calibri" pitchFamily="34" charset="-122"/>
                <a:cs typeface="Calibri" pitchFamily="34" charset="-120"/>
              </a:rPr>
              <a:t>Inside the frontier: </a:t>
            </a:r>
            <a:pPr indent="0" marL="0">
              <a:spcAft>
                <a:spcPts val="400"/>
              </a:spcAft>
              <a:buNone/>
            </a:pPr>
            <a:r>
              <a:rPr lang="en-US" sz="1200" dirty="0">
                <a:solidFill>
                  <a:srgbClr val="374151"/>
                </a:solidFill>
                <a:latin typeface="Calibri" pitchFamily="34" charset="0"/>
                <a:ea typeface="Calibri" pitchFamily="34" charset="-122"/>
                <a:cs typeface="Calibri" pitchFamily="34" charset="-120"/>
              </a:rPr>
              <a:t>+34% quality, +12% tasks completed, 25% faster</a:t>
            </a:r>
            <a:endParaRPr lang="en-US" sz="1200" dirty="0"/>
          </a:p>
          <a:p>
            <a:pPr indent="0" marL="0">
              <a:spcAft>
                <a:spcPts val="400"/>
              </a:spcAft>
              <a:buNone/>
            </a:pPr>
            <a:endParaRPr lang="en-US" sz="1200" dirty="0"/>
          </a:p>
          <a:p>
            <a:pPr indent="0" marL="0">
              <a:spcAft>
                <a:spcPts val="400"/>
              </a:spcAft>
              <a:buNone/>
            </a:pPr>
            <a:r>
              <a:rPr lang="en-US" sz="1200" b="1" dirty="0">
                <a:solidFill>
                  <a:srgbClr val="E94560"/>
                </a:solidFill>
                <a:latin typeface="Calibri" pitchFamily="34" charset="0"/>
                <a:ea typeface="Calibri" pitchFamily="34" charset="-122"/>
                <a:cs typeface="Calibri" pitchFamily="34" charset="-120"/>
              </a:rPr>
              <a:t>Outside the frontier: </a:t>
            </a:r>
            <a:pPr indent="0" marL="0">
              <a:spcAft>
                <a:spcPts val="400"/>
              </a:spcAft>
              <a:buNone/>
            </a:pPr>
            <a:r>
              <a:rPr lang="en-US" sz="1200" dirty="0">
                <a:solidFill>
                  <a:srgbClr val="374151"/>
                </a:solidFill>
                <a:latin typeface="Calibri" pitchFamily="34" charset="0"/>
                <a:ea typeface="Calibri" pitchFamily="34" charset="-122"/>
                <a:cs typeface="Calibri" pitchFamily="34" charset="-120"/>
              </a:rPr>
              <a:t>−19% correct solutions — AI actually degraded performance</a:t>
            </a:r>
            <a:endParaRPr lang="en-US" sz="1200" dirty="0"/>
          </a:p>
          <a:p>
            <a:pPr indent="0" marL="0">
              <a:spcAft>
                <a:spcPts val="400"/>
              </a:spcAft>
              <a:buNone/>
            </a:pPr>
            <a:endParaRPr lang="en-US" sz="1200" dirty="0"/>
          </a:p>
          <a:p>
            <a:pPr indent="0" marL="0">
              <a:spcAft>
                <a:spcPts val="400"/>
              </a:spcAft>
              <a:buNone/>
            </a:pPr>
            <a:r>
              <a:rPr lang="en-US" sz="1200" b="1" dirty="0">
                <a:solidFill>
                  <a:srgbClr val="1E293B"/>
                </a:solidFill>
                <a:latin typeface="Calibri" pitchFamily="34" charset="0"/>
                <a:ea typeface="Calibri" pitchFamily="34" charset="-122"/>
                <a:cs typeface="Calibri" pitchFamily="34" charset="-120"/>
              </a:rPr>
              <a:t>Key insight: </a:t>
            </a:r>
            <a:pPr indent="0" marL="0">
              <a:spcAft>
                <a:spcPts val="400"/>
              </a:spcAft>
              <a:buNone/>
            </a:pPr>
            <a:r>
              <a:rPr lang="en-US" sz="1200" dirty="0">
                <a:solidFill>
                  <a:srgbClr val="374151"/>
                </a:solidFill>
                <a:latin typeface="Calibri" pitchFamily="34" charset="0"/>
                <a:ea typeface="Calibri" pitchFamily="34" charset="-122"/>
                <a:cs typeface="Calibri" pitchFamily="34" charset="-120"/>
              </a:rPr>
              <a:t>Tasks that look equally complex to humans can fall on opposite sides of the frontier</a:t>
            </a:r>
            <a:endParaRPr lang="en-US" sz="1200" dirty="0"/>
          </a:p>
        </p:txBody>
      </p:sp>
      <p:sp>
        <p:nvSpPr>
          <p:cNvPr id="7" name="Shape 5"/>
          <p:cNvSpPr/>
          <p:nvPr/>
        </p:nvSpPr>
        <p:spPr>
          <a:xfrm>
            <a:off x="4754880" y="1371600"/>
            <a:ext cx="3931920" cy="310896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8" name="Text 6"/>
          <p:cNvSpPr/>
          <p:nvPr/>
        </p:nvSpPr>
        <p:spPr>
          <a:xfrm>
            <a:off x="5029200" y="1508760"/>
            <a:ext cx="3383280" cy="36576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The Frontier Concept</a:t>
            </a:r>
            <a:endParaRPr lang="en-US" sz="1400" dirty="0"/>
          </a:p>
        </p:txBody>
      </p:sp>
      <p:sp>
        <p:nvSpPr>
          <p:cNvPr id="9" name="Shape 7"/>
          <p:cNvSpPr/>
          <p:nvPr/>
        </p:nvSpPr>
        <p:spPr>
          <a:xfrm>
            <a:off x="5120640" y="2103120"/>
            <a:ext cx="1554480" cy="1005840"/>
          </a:xfrm>
          <a:prstGeom prst="rect">
            <a:avLst/>
          </a:prstGeom>
          <a:solidFill>
            <a:srgbClr val="0F969C">
              <a:alpha val="75000"/>
            </a:srgbClr>
          </a:solidFill>
          <a:ln/>
        </p:spPr>
      </p:sp>
      <p:sp>
        <p:nvSpPr>
          <p:cNvPr id="10" name="Text 8"/>
          <p:cNvSpPr/>
          <p:nvPr/>
        </p:nvSpPr>
        <p:spPr>
          <a:xfrm>
            <a:off x="5120640" y="2194560"/>
            <a:ext cx="1554480" cy="8229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INSIDE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AI Helps</a:t>
            </a:r>
            <a:endParaRPr lang="en-US" sz="1300" dirty="0"/>
          </a:p>
        </p:txBody>
      </p:sp>
      <p:sp>
        <p:nvSpPr>
          <p:cNvPr id="11" name="Shape 9"/>
          <p:cNvSpPr/>
          <p:nvPr/>
        </p:nvSpPr>
        <p:spPr>
          <a:xfrm>
            <a:off x="6858000" y="2103120"/>
            <a:ext cx="1554480" cy="1005840"/>
          </a:xfrm>
          <a:prstGeom prst="rect">
            <a:avLst/>
          </a:prstGeom>
          <a:solidFill>
            <a:srgbClr val="E94560">
              <a:alpha val="75000"/>
            </a:srgbClr>
          </a:solidFill>
          <a:ln/>
        </p:spPr>
      </p:sp>
      <p:sp>
        <p:nvSpPr>
          <p:cNvPr id="12" name="Text 10"/>
          <p:cNvSpPr/>
          <p:nvPr/>
        </p:nvSpPr>
        <p:spPr>
          <a:xfrm>
            <a:off x="6858000" y="2194560"/>
            <a:ext cx="1554480" cy="8229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OUTSIDE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AI Hurts</a:t>
            </a:r>
            <a:endParaRPr lang="en-US" sz="1300" dirty="0"/>
          </a:p>
        </p:txBody>
      </p:sp>
      <p:sp>
        <p:nvSpPr>
          <p:cNvPr id="13" name="Text 11"/>
          <p:cNvSpPr/>
          <p:nvPr/>
        </p:nvSpPr>
        <p:spPr>
          <a:xfrm>
            <a:off x="5120640" y="3200400"/>
            <a:ext cx="1554480" cy="822960"/>
          </a:xfrm>
          <a:prstGeom prst="rect">
            <a:avLst/>
          </a:prstGeom>
          <a:noFill/>
          <a:ln/>
        </p:spPr>
        <p:txBody>
          <a:bodyPr wrap="square" rtlCol="0" anchor="ctr"/>
          <a:lstStyle/>
          <a:p>
            <a:pPr algn="ctr" indent="0" marL="0">
              <a:buNone/>
            </a:pPr>
            <a:r>
              <a:rPr lang="en-US" sz="900" dirty="0">
                <a:solidFill>
                  <a:srgbClr val="CBD5E1"/>
                </a:solidFill>
                <a:latin typeface="Calibri" pitchFamily="34" charset="0"/>
                <a:ea typeface="Calibri" pitchFamily="34" charset="-122"/>
                <a:cs typeface="Calibri" pitchFamily="34" charset="-120"/>
              </a:rPr>
              <a:t>Creative ideation</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Market analysis</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Writing &amp; persuasion</a:t>
            </a:r>
            <a:endParaRPr lang="en-US" sz="900" dirty="0"/>
          </a:p>
        </p:txBody>
      </p:sp>
      <p:sp>
        <p:nvSpPr>
          <p:cNvPr id="14" name="Text 12"/>
          <p:cNvSpPr/>
          <p:nvPr/>
        </p:nvSpPr>
        <p:spPr>
          <a:xfrm>
            <a:off x="6858000" y="3200400"/>
            <a:ext cx="1554480" cy="822960"/>
          </a:xfrm>
          <a:prstGeom prst="rect">
            <a:avLst/>
          </a:prstGeom>
          <a:noFill/>
          <a:ln/>
        </p:spPr>
        <p:txBody>
          <a:bodyPr wrap="square" rtlCol="0" anchor="ctr"/>
          <a:lstStyle/>
          <a:p>
            <a:pPr algn="ctr" indent="0" marL="0">
              <a:buNone/>
            </a:pPr>
            <a:r>
              <a:rPr lang="en-US" sz="900" dirty="0">
                <a:solidFill>
                  <a:srgbClr val="CBD5E1"/>
                </a:solidFill>
                <a:latin typeface="Calibri" pitchFamily="34" charset="0"/>
                <a:ea typeface="Calibri" pitchFamily="34" charset="-122"/>
                <a:cs typeface="Calibri" pitchFamily="34" charset="-120"/>
              </a:rPr>
              <a:t>Complex judgment</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Data integration</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Multi-step reasoning</a:t>
            </a:r>
            <a:endParaRPr lang="en-US" sz="900" dirty="0"/>
          </a:p>
        </p:txBody>
      </p:sp>
      <p:sp>
        <p:nvSpPr>
          <p:cNvPr id="15" name="Text 13"/>
          <p:cNvSpPr/>
          <p:nvPr/>
        </p:nvSpPr>
        <p:spPr>
          <a:xfrm>
            <a:off x="731520" y="4526280"/>
            <a:ext cx="7680960" cy="274320"/>
          </a:xfrm>
          <a:prstGeom prst="rect">
            <a:avLst/>
          </a:prstGeom>
          <a:noFill/>
          <a:ln/>
        </p:spPr>
        <p:txBody>
          <a:bodyPr wrap="square" rtlCol="0" anchor="ctr"/>
          <a:lstStyle/>
          <a:p>
            <a:pPr indent="0" marL="0">
              <a:buNone/>
            </a:pPr>
            <a:r>
              <a:rPr lang="en-US" sz="1100" i="1" dirty="0">
                <a:solidFill>
                  <a:srgbClr val="374151"/>
                </a:solidFill>
                <a:latin typeface="Calibri" pitchFamily="34" charset="0"/>
                <a:ea typeface="Calibri" pitchFamily="34" charset="-122"/>
                <a:cs typeface="Calibri" pitchFamily="34" charset="-120"/>
              </a:rPr>
              <a:t>Bottom-half performers gained +31%, but top-half still gained +11%. AI as equalizer — within the frontier.</a:t>
            </a:r>
            <a:endParaRPr lang="en-US" sz="1100" dirty="0"/>
          </a:p>
        </p:txBody>
      </p:sp>
      <p:sp>
        <p:nvSpPr>
          <p:cNvPr id="16" name="Shape 14"/>
          <p:cNvSpPr/>
          <p:nvPr/>
        </p:nvSpPr>
        <p:spPr>
          <a:xfrm>
            <a:off x="0" y="4892040"/>
            <a:ext cx="9144000" cy="251460"/>
          </a:xfrm>
          <a:prstGeom prst="rect">
            <a:avLst/>
          </a:prstGeom>
          <a:solidFill>
            <a:srgbClr val="8C1515"/>
          </a:solidFill>
          <a:ln/>
        </p:spPr>
      </p:sp>
      <p:sp>
        <p:nvSpPr>
          <p:cNvPr id="18" name="Text 15"/>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The Uneven Impact</a:t>
            </a:r>
            <a:endParaRPr lang="en-US" sz="3000" dirty="0"/>
          </a:p>
        </p:txBody>
      </p:sp>
      <p:sp>
        <p:nvSpPr>
          <p:cNvPr id="3" name="Text 1"/>
          <p:cNvSpPr/>
          <p:nvPr/>
        </p:nvSpPr>
        <p:spPr>
          <a:xfrm>
            <a:off x="731520" y="822960"/>
            <a:ext cx="7680960" cy="32004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Otis, Clarke, Delecourt, Holtz &amp; Koning (2024) — RCT with 640 Kenyan Entrepreneurs</a:t>
            </a:r>
            <a:endParaRPr lang="en-US" sz="1100" dirty="0"/>
          </a:p>
        </p:txBody>
      </p:sp>
      <p:sp>
        <p:nvSpPr>
          <p:cNvPr id="4" name="Shape 2"/>
          <p:cNvSpPr/>
          <p:nvPr/>
        </p:nvSpPr>
        <p:spPr>
          <a:xfrm>
            <a:off x="457200" y="1371600"/>
            <a:ext cx="3931920" cy="2286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457200" y="1371600"/>
            <a:ext cx="3931920" cy="64008"/>
          </a:xfrm>
          <a:prstGeom prst="rect">
            <a:avLst/>
          </a:prstGeom>
          <a:solidFill>
            <a:srgbClr val="0F969C"/>
          </a:solidFill>
          <a:ln/>
        </p:spPr>
      </p:sp>
      <p:sp>
        <p:nvSpPr>
          <p:cNvPr id="6" name="Text 4"/>
          <p:cNvSpPr/>
          <p:nvPr/>
        </p:nvSpPr>
        <p:spPr>
          <a:xfrm>
            <a:off x="640080" y="1554480"/>
            <a:ext cx="1371600" cy="640080"/>
          </a:xfrm>
          <a:prstGeom prst="rect">
            <a:avLst/>
          </a:prstGeom>
          <a:noFill/>
          <a:ln/>
        </p:spPr>
        <p:txBody>
          <a:bodyPr wrap="square" rtlCol="0" anchor="ctr"/>
          <a:lstStyle/>
          <a:p>
            <a:pPr indent="0" marL="0">
              <a:buNone/>
            </a:pPr>
            <a:r>
              <a:rPr lang="en-US" sz="3600" b="1" dirty="0">
                <a:solidFill>
                  <a:srgbClr val="0F969C"/>
                </a:solidFill>
                <a:latin typeface="Georgia" pitchFamily="34" charset="0"/>
                <a:ea typeface="Georgia" pitchFamily="34" charset="-122"/>
                <a:cs typeface="Georgia" pitchFamily="34" charset="-120"/>
              </a:rPr>
              <a:t>+15%</a:t>
            </a:r>
            <a:endParaRPr lang="en-US" sz="3600" dirty="0"/>
          </a:p>
        </p:txBody>
      </p:sp>
      <p:sp>
        <p:nvSpPr>
          <p:cNvPr id="7" name="Text 5"/>
          <p:cNvSpPr/>
          <p:nvPr/>
        </p:nvSpPr>
        <p:spPr>
          <a:xfrm>
            <a:off x="2011680" y="1600200"/>
            <a:ext cx="2103120" cy="45720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High Performers</a:t>
            </a:r>
            <a:endParaRPr lang="en-US" sz="1600" dirty="0"/>
          </a:p>
        </p:txBody>
      </p:sp>
      <p:sp>
        <p:nvSpPr>
          <p:cNvPr id="8" name="Text 6"/>
          <p:cNvSpPr/>
          <p:nvPr/>
        </p:nvSpPr>
        <p:spPr>
          <a:xfrm>
            <a:off x="640080" y="2286000"/>
            <a:ext cx="3474720" cy="118872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Asked targeted questions. Implemented tailored, specific changes. Used AI to discover solutions unique to their context — like finding alternative power sources during outages.</a:t>
            </a:r>
            <a:endParaRPr lang="en-US" sz="1150" dirty="0"/>
          </a:p>
        </p:txBody>
      </p:sp>
      <p:sp>
        <p:nvSpPr>
          <p:cNvPr id="9" name="Shape 7"/>
          <p:cNvSpPr/>
          <p:nvPr/>
        </p:nvSpPr>
        <p:spPr>
          <a:xfrm>
            <a:off x="4754880" y="1371600"/>
            <a:ext cx="3931920" cy="22860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4754880" y="1371600"/>
            <a:ext cx="3931920" cy="64008"/>
          </a:xfrm>
          <a:prstGeom prst="rect">
            <a:avLst/>
          </a:prstGeom>
          <a:solidFill>
            <a:srgbClr val="E94560"/>
          </a:solidFill>
          <a:ln/>
        </p:spPr>
      </p:sp>
      <p:sp>
        <p:nvSpPr>
          <p:cNvPr id="11" name="Text 9"/>
          <p:cNvSpPr/>
          <p:nvPr/>
        </p:nvSpPr>
        <p:spPr>
          <a:xfrm>
            <a:off x="4937760" y="1554480"/>
            <a:ext cx="1371600" cy="640080"/>
          </a:xfrm>
          <a:prstGeom prst="rect">
            <a:avLst/>
          </a:prstGeom>
          <a:noFill/>
          <a:ln/>
        </p:spPr>
        <p:txBody>
          <a:bodyPr wrap="square" rtlCol="0" anchor="ctr"/>
          <a:lstStyle/>
          <a:p>
            <a:pPr indent="0" marL="0">
              <a:buNone/>
            </a:pPr>
            <a:r>
              <a:rPr lang="en-US" sz="3600" b="1" dirty="0">
                <a:solidFill>
                  <a:srgbClr val="E94560"/>
                </a:solidFill>
                <a:latin typeface="Georgia" pitchFamily="34" charset="0"/>
                <a:ea typeface="Georgia" pitchFamily="34" charset="-122"/>
                <a:cs typeface="Georgia" pitchFamily="34" charset="-120"/>
              </a:rPr>
              <a:t>−8%</a:t>
            </a:r>
            <a:endParaRPr lang="en-US" sz="3600" dirty="0"/>
          </a:p>
        </p:txBody>
      </p:sp>
      <p:sp>
        <p:nvSpPr>
          <p:cNvPr id="12" name="Text 10"/>
          <p:cNvSpPr/>
          <p:nvPr/>
        </p:nvSpPr>
        <p:spPr>
          <a:xfrm>
            <a:off x="6309360" y="1600200"/>
            <a:ext cx="2103120" cy="45720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Low Performers</a:t>
            </a:r>
            <a:endParaRPr lang="en-US" sz="1600" dirty="0"/>
          </a:p>
        </p:txBody>
      </p:sp>
      <p:sp>
        <p:nvSpPr>
          <p:cNvPr id="13" name="Text 11"/>
          <p:cNvSpPr/>
          <p:nvPr/>
        </p:nvSpPr>
        <p:spPr>
          <a:xfrm>
            <a:off x="4937760" y="2286000"/>
            <a:ext cx="3474720" cy="118872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Implemented generic advice — lowered prices, spent on advertising — that was inappropriate for their specific business situation. The AI advice actually hurt them.</a:t>
            </a:r>
            <a:endParaRPr lang="en-US" sz="1150" dirty="0"/>
          </a:p>
        </p:txBody>
      </p:sp>
      <p:sp>
        <p:nvSpPr>
          <p:cNvPr id="14" name="Shape 12"/>
          <p:cNvSpPr/>
          <p:nvPr/>
        </p:nvSpPr>
        <p:spPr>
          <a:xfrm>
            <a:off x="457200" y="3840480"/>
            <a:ext cx="8229600" cy="82296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15" name="Text 13"/>
          <p:cNvSpPr/>
          <p:nvPr/>
        </p:nvSpPr>
        <p:spPr>
          <a:xfrm>
            <a:off x="731520" y="3931920"/>
            <a:ext cx="7680960" cy="640080"/>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The takeaway: </a:t>
            </a:r>
            <a:pPr indent="0" marL="0">
              <a:buNone/>
            </a:pPr>
            <a:r>
              <a:rPr lang="en-US" sz="1200" dirty="0">
                <a:solidFill>
                  <a:srgbClr val="CBD5E1"/>
                </a:solidFill>
                <a:latin typeface="Calibri" pitchFamily="34" charset="0"/>
                <a:ea typeface="Calibri" pitchFamily="34" charset="-122"/>
                <a:cs typeface="Calibri" pitchFamily="34" charset="-120"/>
              </a:rPr>
              <a:t>The gap isn't in the quality of AI advice — it's in who can select and implement the right advice. This is a mechanism design problem, not a content problem.</a:t>
            </a:r>
            <a:endParaRPr lang="en-US" sz="1200" dirty="0"/>
          </a:p>
        </p:txBody>
      </p:sp>
      <p:sp>
        <p:nvSpPr>
          <p:cNvPr id="16" name="Shape 14"/>
          <p:cNvSpPr/>
          <p:nvPr/>
        </p:nvSpPr>
        <p:spPr>
          <a:xfrm>
            <a:off x="0" y="4892040"/>
            <a:ext cx="9144000" cy="251460"/>
          </a:xfrm>
          <a:prstGeom prst="rect">
            <a:avLst/>
          </a:prstGeom>
          <a:solidFill>
            <a:srgbClr val="8C1515"/>
          </a:solidFill>
          <a:ln/>
        </p:spPr>
      </p:sp>
      <p:sp>
        <p:nvSpPr>
          <p:cNvPr id="18" name="Text 15"/>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AI as Strategist</a:t>
            </a:r>
            <a:endParaRPr lang="en-US" sz="3000" dirty="0"/>
          </a:p>
        </p:txBody>
      </p:sp>
      <p:sp>
        <p:nvSpPr>
          <p:cNvPr id="3" name="Text 1"/>
          <p:cNvSpPr/>
          <p:nvPr/>
        </p:nvSpPr>
        <p:spPr>
          <a:xfrm>
            <a:off x="731520" y="822960"/>
            <a:ext cx="7680960" cy="32004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Csaszar, Ketkar &amp; Kim (2024) — Strategy Science</a:t>
            </a:r>
            <a:endParaRPr lang="en-US" sz="1100" dirty="0"/>
          </a:p>
        </p:txBody>
      </p:sp>
      <p:sp>
        <p:nvSpPr>
          <p:cNvPr id="4" name="Shape 2"/>
          <p:cNvSpPr/>
          <p:nvPr/>
        </p:nvSpPr>
        <p:spPr>
          <a:xfrm>
            <a:off x="457200" y="1371600"/>
            <a:ext cx="402336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457200" y="1371600"/>
            <a:ext cx="73152" cy="1417320"/>
          </a:xfrm>
          <a:prstGeom prst="rect">
            <a:avLst/>
          </a:prstGeom>
          <a:solidFill>
            <a:srgbClr val="0F969C"/>
          </a:solidFill>
          <a:ln/>
        </p:spPr>
      </p:sp>
      <p:sp>
        <p:nvSpPr>
          <p:cNvPr id="6" name="Text 4"/>
          <p:cNvSpPr/>
          <p:nvPr/>
        </p:nvSpPr>
        <p:spPr>
          <a:xfrm>
            <a:off x="685800" y="1463040"/>
            <a:ext cx="3566160" cy="36576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Strategy Generation</a:t>
            </a:r>
            <a:endParaRPr lang="en-US" sz="1400" dirty="0"/>
          </a:p>
        </p:txBody>
      </p:sp>
      <p:sp>
        <p:nvSpPr>
          <p:cNvPr id="7" name="Text 5"/>
          <p:cNvSpPr/>
          <p:nvPr/>
        </p:nvSpPr>
        <p:spPr>
          <a:xfrm>
            <a:off x="685800" y="1828800"/>
            <a:ext cx="3566160" cy="82296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LLM-generated business plans rated 0.14 SD higher than entrepreneur-written plans. Evaluators 5% more likely to recommend acceptance.</a:t>
            </a:r>
            <a:endParaRPr lang="en-US" sz="1100" dirty="0"/>
          </a:p>
        </p:txBody>
      </p:sp>
      <p:sp>
        <p:nvSpPr>
          <p:cNvPr id="8" name="Shape 6"/>
          <p:cNvSpPr/>
          <p:nvPr/>
        </p:nvSpPr>
        <p:spPr>
          <a:xfrm>
            <a:off x="4754880" y="1371600"/>
            <a:ext cx="402336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4754880" y="1371600"/>
            <a:ext cx="73152" cy="1417320"/>
          </a:xfrm>
          <a:prstGeom prst="rect">
            <a:avLst/>
          </a:prstGeom>
          <a:solidFill>
            <a:srgbClr val="8C1515"/>
          </a:solidFill>
          <a:ln/>
        </p:spPr>
      </p:sp>
      <p:sp>
        <p:nvSpPr>
          <p:cNvPr id="10" name="Text 8"/>
          <p:cNvSpPr/>
          <p:nvPr/>
        </p:nvSpPr>
        <p:spPr>
          <a:xfrm>
            <a:off x="4983480" y="1463040"/>
            <a:ext cx="3566160" cy="36576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Strategy Evaluation</a:t>
            </a:r>
            <a:endParaRPr lang="en-US" sz="1400" dirty="0"/>
          </a:p>
        </p:txBody>
      </p:sp>
      <p:sp>
        <p:nvSpPr>
          <p:cNvPr id="11" name="Text 9"/>
          <p:cNvSpPr/>
          <p:nvPr/>
        </p:nvSpPr>
        <p:spPr>
          <a:xfrm>
            <a:off x="4983480" y="1828800"/>
            <a:ext cx="3566160" cy="82296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LLM evaluations correlated r = 0.52 with experienced VC and angel investors across 138 real business plans from a startup competition.</a:t>
            </a:r>
            <a:endParaRPr lang="en-US" sz="1100" dirty="0"/>
          </a:p>
        </p:txBody>
      </p:sp>
      <p:sp>
        <p:nvSpPr>
          <p:cNvPr id="12" name="Shape 10"/>
          <p:cNvSpPr/>
          <p:nvPr/>
        </p:nvSpPr>
        <p:spPr>
          <a:xfrm>
            <a:off x="457200" y="2971800"/>
            <a:ext cx="402336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457200" y="2971800"/>
            <a:ext cx="73152" cy="1417320"/>
          </a:xfrm>
          <a:prstGeom prst="rect">
            <a:avLst/>
          </a:prstGeom>
          <a:solidFill>
            <a:srgbClr val="F5A623"/>
          </a:solidFill>
          <a:ln/>
        </p:spPr>
      </p:sp>
      <p:sp>
        <p:nvSpPr>
          <p:cNvPr id="14" name="Text 12"/>
          <p:cNvSpPr/>
          <p:nvPr/>
        </p:nvSpPr>
        <p:spPr>
          <a:xfrm>
            <a:off x="685800" y="3063240"/>
            <a:ext cx="3566160" cy="36576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Predicting Outcomes</a:t>
            </a:r>
            <a:endParaRPr lang="en-US" sz="1400" dirty="0"/>
          </a:p>
        </p:txBody>
      </p:sp>
      <p:sp>
        <p:nvSpPr>
          <p:cNvPr id="15" name="Text 13"/>
          <p:cNvSpPr/>
          <p:nvPr/>
        </p:nvSpPr>
        <p:spPr>
          <a:xfrm>
            <a:off x="685800" y="3429000"/>
            <a:ext cx="3566160" cy="82296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Prospective Kickstarter tournament: LLMs predicted which live projects would succeed at r &gt; 0.60, outperforming experienced human evaluators (r = 0.04–0.45). AI may be better at strategic foresight than we are.</a:t>
            </a:r>
            <a:endParaRPr lang="en-US" sz="1100" dirty="0"/>
          </a:p>
        </p:txBody>
      </p:sp>
      <p:sp>
        <p:nvSpPr>
          <p:cNvPr id="16" name="Shape 14"/>
          <p:cNvSpPr/>
          <p:nvPr/>
        </p:nvSpPr>
        <p:spPr>
          <a:xfrm>
            <a:off x="4754880" y="2971800"/>
            <a:ext cx="4023360" cy="14173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7" name="Shape 15"/>
          <p:cNvSpPr/>
          <p:nvPr/>
        </p:nvSpPr>
        <p:spPr>
          <a:xfrm>
            <a:off x="4754880" y="2971800"/>
            <a:ext cx="73152" cy="1417320"/>
          </a:xfrm>
          <a:prstGeom prst="rect">
            <a:avLst/>
          </a:prstGeom>
          <a:solidFill>
            <a:srgbClr val="16213E"/>
          </a:solidFill>
          <a:ln/>
        </p:spPr>
      </p:sp>
      <p:sp>
        <p:nvSpPr>
          <p:cNvPr id="18" name="Text 16"/>
          <p:cNvSpPr/>
          <p:nvPr/>
        </p:nvSpPr>
        <p:spPr>
          <a:xfrm>
            <a:off x="4983480" y="3063240"/>
            <a:ext cx="3566160" cy="36576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Unbounding Rationality</a:t>
            </a:r>
            <a:endParaRPr lang="en-US" sz="1400" dirty="0"/>
          </a:p>
        </p:txBody>
      </p:sp>
      <p:sp>
        <p:nvSpPr>
          <p:cNvPr id="19" name="Text 17"/>
          <p:cNvSpPr/>
          <p:nvPr/>
        </p:nvSpPr>
        <p:spPr>
          <a:xfrm>
            <a:off x="4983480" y="3429000"/>
            <a:ext cx="3566160" cy="822960"/>
          </a:xfrm>
          <a:prstGeom prst="rect">
            <a:avLst/>
          </a:prstGeom>
          <a:noFill/>
          <a:ln/>
        </p:spPr>
        <p:txBody>
          <a:bodyPr wrap="square" rtlCol="0" anchor="t"/>
          <a:lstStyle/>
          <a:p>
            <a:pPr indent="0" marL="0">
              <a:buNone/>
            </a:pPr>
            <a:r>
              <a:rPr lang="en-US" sz="1100" dirty="0">
                <a:solidFill>
                  <a:srgbClr val="374151"/>
                </a:solidFill>
                <a:latin typeface="Calibri" pitchFamily="34" charset="0"/>
                <a:ea typeface="Calibri" pitchFamily="34" charset="-122"/>
                <a:cs typeface="Calibri" pitchFamily="34" charset="-120"/>
              </a:rPr>
              <a:t>AI changes three cognitive processes: search (speed), representation (re-imagining strategy), and aggregation (virtual crowds). Relaxes bounded rationality.</a:t>
            </a:r>
            <a:endParaRPr lang="en-US" sz="1100" dirty="0"/>
          </a:p>
        </p:txBody>
      </p:sp>
      <p:sp>
        <p:nvSpPr>
          <p:cNvPr id="20" name="Shape 18"/>
          <p:cNvSpPr/>
          <p:nvPr/>
        </p:nvSpPr>
        <p:spPr>
          <a:xfrm>
            <a:off x="0" y="4892040"/>
            <a:ext cx="9144000" cy="251460"/>
          </a:xfrm>
          <a:prstGeom prst="rect">
            <a:avLst/>
          </a:prstGeom>
          <a:solidFill>
            <a:srgbClr val="8C1515"/>
          </a:solidFill>
          <a:ln/>
        </p:spPr>
      </p:sp>
      <p:sp>
        <p:nvSpPr>
          <p:cNvPr id="22" name="Text 19"/>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Human-AI Oversight Paradox</a:t>
            </a:r>
            <a:endParaRPr lang="en-US" sz="3000" dirty="0"/>
          </a:p>
        </p:txBody>
      </p:sp>
      <p:sp>
        <p:nvSpPr>
          <p:cNvPr id="3" name="Text 1"/>
          <p:cNvSpPr/>
          <p:nvPr/>
        </p:nvSpPr>
        <p:spPr>
          <a:xfrm>
            <a:off x="731520" y="822960"/>
            <a:ext cx="7680960" cy="32004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Jacqueline Ng Lane et al. (2024) — Harvard Business School</a:t>
            </a:r>
            <a:endParaRPr lang="en-US" sz="1100" dirty="0"/>
          </a:p>
        </p:txBody>
      </p:sp>
      <p:sp>
        <p:nvSpPr>
          <p:cNvPr id="4" name="Shape 2"/>
          <p:cNvSpPr/>
          <p:nvPr/>
        </p:nvSpPr>
        <p:spPr>
          <a:xfrm>
            <a:off x="457200" y="1371600"/>
            <a:ext cx="8229600" cy="146304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5" name="Text 3"/>
          <p:cNvSpPr/>
          <p:nvPr/>
        </p:nvSpPr>
        <p:spPr>
          <a:xfrm>
            <a:off x="640080" y="1417320"/>
            <a:ext cx="1828800" cy="1280160"/>
          </a:xfrm>
          <a:prstGeom prst="rect">
            <a:avLst/>
          </a:prstGeom>
          <a:noFill/>
          <a:ln/>
        </p:spPr>
        <p:txBody>
          <a:bodyPr wrap="square" rtlCol="0" anchor="ctr"/>
          <a:lstStyle/>
          <a:p>
            <a:pPr algn="ctr" indent="0" marL="0">
              <a:buNone/>
            </a:pPr>
            <a:r>
              <a:rPr lang="en-US" sz="5600" b="1" dirty="0">
                <a:solidFill>
                  <a:srgbClr val="E94560"/>
                </a:solidFill>
                <a:latin typeface="Georgia" pitchFamily="34" charset="0"/>
                <a:ea typeface="Georgia" pitchFamily="34" charset="-122"/>
                <a:cs typeface="Georgia" pitchFamily="34" charset="-120"/>
              </a:rPr>
              <a:t>19%</a:t>
            </a:r>
            <a:endParaRPr lang="en-US" sz="5600" dirty="0"/>
          </a:p>
        </p:txBody>
      </p:sp>
      <p:sp>
        <p:nvSpPr>
          <p:cNvPr id="6" name="Text 4"/>
          <p:cNvSpPr/>
          <p:nvPr/>
        </p:nvSpPr>
        <p:spPr>
          <a:xfrm>
            <a:off x="2560320" y="1463040"/>
            <a:ext cx="5852160" cy="12801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more likely to align with AI recommendations when AI provided narrative explanations.</a:t>
            </a:r>
            <a:endParaRPr lang="en-US" sz="1500" dirty="0"/>
          </a:p>
          <a:p>
            <a:pPr indent="0" marL="0">
              <a:buNone/>
            </a:pPr>
            <a:endParaRPr lang="en-US" sz="1500" dirty="0"/>
          </a:p>
          <a:p>
            <a:pPr indent="0" marL="0">
              <a:buNone/>
            </a:pPr>
            <a:r>
              <a:rPr lang="en-US" sz="1200" dirty="0">
                <a:solidFill>
                  <a:srgbClr val="CBD5E1"/>
                </a:solidFill>
                <a:latin typeface="Calibri" pitchFamily="34" charset="0"/>
                <a:ea typeface="Calibri" pitchFamily="34" charset="-122"/>
                <a:cs typeface="Calibri" pitchFamily="34" charset="-120"/>
              </a:rPr>
              <a:t>228 evaluators screening 48 early-stage innovations across 3,002 decisions. Narrative AI increased reliance on AI rather than strengthening human judgment.</a:t>
            </a:r>
            <a:endParaRPr lang="en-US" sz="1500" dirty="0"/>
          </a:p>
        </p:txBody>
      </p:sp>
      <p:sp>
        <p:nvSpPr>
          <p:cNvPr id="7" name="Shape 5"/>
          <p:cNvSpPr/>
          <p:nvPr/>
        </p:nvSpPr>
        <p:spPr>
          <a:xfrm>
            <a:off x="457200" y="3108960"/>
            <a:ext cx="3931920" cy="1371600"/>
          </a:xfrm>
          <a:prstGeom prst="rect">
            <a:avLst/>
          </a:prstGeom>
          <a:solidFill>
            <a:srgbClr val="1E2E4A"/>
          </a:solidFill>
          <a:ln/>
        </p:spPr>
      </p:sp>
      <p:sp>
        <p:nvSpPr>
          <p:cNvPr id="8" name="Text 6"/>
          <p:cNvSpPr/>
          <p:nvPr/>
        </p:nvSpPr>
        <p:spPr>
          <a:xfrm>
            <a:off x="640080" y="3200400"/>
            <a:ext cx="3566160" cy="320040"/>
          </a:xfrm>
          <a:prstGeom prst="rect">
            <a:avLst/>
          </a:prstGeom>
          <a:noFill/>
          <a:ln/>
        </p:spPr>
        <p:txBody>
          <a:bodyPr wrap="square" rtlCol="0" anchor="ctr"/>
          <a:lstStyle/>
          <a:p>
            <a:pPr indent="0" marL="0">
              <a:buNone/>
            </a:pPr>
            <a:r>
              <a:rPr lang="en-US" sz="1400" b="1" dirty="0">
                <a:solidFill>
                  <a:srgbClr val="F5A623"/>
                </a:solidFill>
                <a:latin typeface="Georgia" pitchFamily="34" charset="0"/>
                <a:ea typeface="Georgia" pitchFamily="34" charset="-122"/>
                <a:cs typeface="Georgia" pitchFamily="34" charset="-120"/>
              </a:rPr>
              <a:t>The Paradox</a:t>
            </a:r>
            <a:endParaRPr lang="en-US" sz="1400" dirty="0"/>
          </a:p>
        </p:txBody>
      </p:sp>
      <p:sp>
        <p:nvSpPr>
          <p:cNvPr id="9" name="Text 7"/>
          <p:cNvSpPr/>
          <p:nvPr/>
        </p:nvSpPr>
        <p:spPr>
          <a:xfrm>
            <a:off x="640080" y="3566160"/>
            <a:ext cx="356616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Explanations were supposed to help humans override bad AI calls. Instead, persuasive narratives made people more compliant — even when AI recommended rejection of potentially transformative innovations.</a:t>
            </a:r>
            <a:endParaRPr lang="en-US" sz="1100" dirty="0"/>
          </a:p>
        </p:txBody>
      </p:sp>
      <p:sp>
        <p:nvSpPr>
          <p:cNvPr id="10" name="Shape 8"/>
          <p:cNvSpPr/>
          <p:nvPr/>
        </p:nvSpPr>
        <p:spPr>
          <a:xfrm>
            <a:off x="4754880" y="3108960"/>
            <a:ext cx="3931920" cy="1371600"/>
          </a:xfrm>
          <a:prstGeom prst="rect">
            <a:avLst/>
          </a:prstGeom>
          <a:solidFill>
            <a:srgbClr val="1E2E4A"/>
          </a:solidFill>
          <a:ln/>
        </p:spPr>
      </p:sp>
      <p:sp>
        <p:nvSpPr>
          <p:cNvPr id="11" name="Text 9"/>
          <p:cNvSpPr/>
          <p:nvPr/>
        </p:nvSpPr>
        <p:spPr>
          <a:xfrm>
            <a:off x="4937760" y="3200400"/>
            <a:ext cx="3566160" cy="320040"/>
          </a:xfrm>
          <a:prstGeom prst="rect">
            <a:avLst/>
          </a:prstGeom>
          <a:noFill/>
          <a:ln/>
        </p:spPr>
        <p:txBody>
          <a:bodyPr wrap="square" rtlCol="0" anchor="ctr"/>
          <a:lstStyle/>
          <a:p>
            <a:pPr indent="0" marL="0">
              <a:buNone/>
            </a:pPr>
            <a:r>
              <a:rPr lang="en-US" sz="1400" b="1" dirty="0">
                <a:solidFill>
                  <a:srgbClr val="0F969C"/>
                </a:solidFill>
                <a:latin typeface="Georgia" pitchFamily="34" charset="0"/>
                <a:ea typeface="Georgia" pitchFamily="34" charset="-122"/>
                <a:cs typeface="Georgia" pitchFamily="34" charset="-120"/>
              </a:rPr>
              <a:t>The Implication</a:t>
            </a:r>
            <a:endParaRPr lang="en-US" sz="1400" dirty="0"/>
          </a:p>
        </p:txBody>
      </p:sp>
      <p:sp>
        <p:nvSpPr>
          <p:cNvPr id="12" name="Text 10"/>
          <p:cNvSpPr/>
          <p:nvPr/>
        </p:nvSpPr>
        <p:spPr>
          <a:xfrm>
            <a:off x="4937760" y="3566160"/>
            <a:ext cx="356616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AI-generated narratives may inadvertently filter out breakthrough innovations that don't fit standard frameworks. More explanation doesn't equal better oversight — it can equal less.</a:t>
            </a:r>
            <a:endParaRPr lang="en-US" sz="1100" dirty="0"/>
          </a:p>
        </p:txBody>
      </p:sp>
      <p:sp>
        <p:nvSpPr>
          <p:cNvPr id="13" name="Shape 11"/>
          <p:cNvSpPr/>
          <p:nvPr/>
        </p:nvSpPr>
        <p:spPr>
          <a:xfrm>
            <a:off x="0" y="4892040"/>
            <a:ext cx="9144000" cy="251460"/>
          </a:xfrm>
          <a:prstGeom prst="rect">
            <a:avLst/>
          </a:prstGeom>
          <a:solidFill>
            <a:srgbClr val="8C1515"/>
          </a:solidFill>
          <a:ln/>
        </p:spPr>
      </p:sp>
      <p:sp>
        <p:nvSpPr>
          <p:cNvPr id="15" name="Text 12"/>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AI Across the Startup Journey</a:t>
            </a:r>
            <a:endParaRPr lang="en-US" sz="2800" dirty="0"/>
          </a:p>
        </p:txBody>
      </p:sp>
      <p:sp>
        <p:nvSpPr>
          <p:cNvPr id="3" name="Text 1"/>
          <p:cNvSpPr/>
          <p:nvPr/>
        </p:nvSpPr>
        <p:spPr>
          <a:xfrm>
            <a:off x="548640" y="731520"/>
            <a:ext cx="8046720" cy="320040"/>
          </a:xfrm>
          <a:prstGeom prst="rect">
            <a:avLst/>
          </a:prstGeom>
          <a:noFill/>
          <a:ln/>
        </p:spPr>
        <p:txBody>
          <a:bodyPr wrap="square" rtlCol="0" anchor="ctr"/>
          <a:lstStyle/>
          <a:p>
            <a:pPr indent="0" marL="0">
              <a:buNone/>
            </a:pPr>
            <a:r>
              <a:rPr lang="en-US" sz="1300" i="1" dirty="0">
                <a:solidFill>
                  <a:srgbClr val="9CA3AF"/>
                </a:solidFill>
                <a:latin typeface="Calibri" pitchFamily="34" charset="0"/>
                <a:ea typeface="Calibri" pitchFamily="34" charset="-122"/>
                <a:cs typeface="Calibri" pitchFamily="34" charset="-120"/>
              </a:rPr>
              <a:t>Where AI accelerates — and where it misleads</a:t>
            </a:r>
            <a:endParaRPr lang="en-US" sz="1300" dirty="0"/>
          </a:p>
        </p:txBody>
      </p:sp>
      <p:sp>
        <p:nvSpPr>
          <p:cNvPr id="4" name="Shape 2"/>
          <p:cNvSpPr/>
          <p:nvPr/>
        </p:nvSpPr>
        <p:spPr>
          <a:xfrm>
            <a:off x="228600" y="1143000"/>
            <a:ext cx="1353312" cy="3383280"/>
          </a:xfrm>
          <a:prstGeom prst="rect">
            <a:avLst>
              <a:gd name="adj" fmla="val 4054"/>
            </a:avLst>
          </a:prstGeom>
          <a:solidFill>
            <a:srgbClr val="1E2E4A"/>
          </a:solidFill>
          <a:ln/>
        </p:spPr>
      </p:sp>
      <p:sp>
        <p:nvSpPr>
          <p:cNvPr id="5" name="Text 3"/>
          <p:cNvSpPr/>
          <p:nvPr/>
        </p:nvSpPr>
        <p:spPr>
          <a:xfrm>
            <a:off x="228600" y="1188720"/>
            <a:ext cx="1353312" cy="5029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Ideation</a:t>
            </a:r>
            <a:endParaRPr lang="en-US" sz="1200" dirty="0"/>
          </a:p>
        </p:txBody>
      </p:sp>
      <p:sp>
        <p:nvSpPr>
          <p:cNvPr id="6" name="Shape 4"/>
          <p:cNvSpPr/>
          <p:nvPr/>
        </p:nvSpPr>
        <p:spPr>
          <a:xfrm>
            <a:off x="448056" y="1719072"/>
            <a:ext cx="914400" cy="228600"/>
          </a:xfrm>
          <a:prstGeom prst="roundRect">
            <a:avLst>
              <a:gd name="adj" fmla="val 24000"/>
            </a:avLst>
          </a:prstGeom>
          <a:solidFill>
            <a:srgbClr val="2ECC71"/>
          </a:solidFill>
          <a:ln/>
        </p:spPr>
      </p:sp>
      <p:sp>
        <p:nvSpPr>
          <p:cNvPr id="7" name="Text 5"/>
          <p:cNvSpPr/>
          <p:nvPr/>
        </p:nvSpPr>
        <p:spPr>
          <a:xfrm>
            <a:off x="448056" y="1719072"/>
            <a:ext cx="914400" cy="228600"/>
          </a:xfrm>
          <a:prstGeom prst="rect">
            <a:avLst/>
          </a:prstGeom>
          <a:noFill/>
          <a:ln/>
        </p:spPr>
        <p:txBody>
          <a:bodyPr wrap="square" rtlCol="0" anchor="ctr"/>
          <a:lstStyle/>
          <a:p>
            <a:pPr algn="ctr" indent="0" marL="0">
              <a:buNone/>
            </a:pPr>
            <a:r>
              <a:rPr lang="en-US" sz="800" b="1" dirty="0">
                <a:solidFill>
                  <a:srgbClr val="1A1A2E"/>
                </a:solidFill>
                <a:latin typeface="Calibri" pitchFamily="34" charset="0"/>
                <a:ea typeface="Calibri" pitchFamily="34" charset="-122"/>
                <a:cs typeface="Calibri" pitchFamily="34" charset="-120"/>
              </a:rPr>
              <a:t>INSIDE</a:t>
            </a:r>
            <a:endParaRPr lang="en-US" sz="800" dirty="0"/>
          </a:p>
        </p:txBody>
      </p:sp>
      <p:sp>
        <p:nvSpPr>
          <p:cNvPr id="8" name="Text 6"/>
          <p:cNvSpPr/>
          <p:nvPr/>
        </p:nvSpPr>
        <p:spPr>
          <a:xfrm>
            <a:off x="301752" y="2057400"/>
            <a:ext cx="1207008" cy="201168"/>
          </a:xfrm>
          <a:prstGeom prst="rect">
            <a:avLst/>
          </a:prstGeom>
          <a:noFill/>
          <a:ln/>
        </p:spPr>
        <p:txBody>
          <a:bodyPr wrap="square" rtlCol="0" anchor="ctr"/>
          <a:lstStyle/>
          <a:p>
            <a:pPr indent="0" marL="0">
              <a:buNone/>
            </a:pPr>
            <a:r>
              <a:rPr lang="en-US" sz="850" b="1" dirty="0">
                <a:solidFill>
                  <a:srgbClr val="2ECC71"/>
                </a:solidFill>
                <a:latin typeface="Calibri" pitchFamily="34" charset="0"/>
                <a:ea typeface="Calibri" pitchFamily="34" charset="-122"/>
                <a:cs typeface="Calibri" pitchFamily="34" charset="-120"/>
              </a:rPr>
              <a:t>✓ AI helps</a:t>
            </a:r>
            <a:endParaRPr lang="en-US" sz="850" dirty="0"/>
          </a:p>
        </p:txBody>
      </p:sp>
      <p:sp>
        <p:nvSpPr>
          <p:cNvPr id="9" name="Text 7"/>
          <p:cNvSpPr/>
          <p:nvPr/>
        </p:nvSpPr>
        <p:spPr>
          <a:xfrm>
            <a:off x="301752" y="225856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Rapid brainstorming, concept variation, recombination</a:t>
            </a:r>
            <a:endParaRPr lang="en-US" sz="850" dirty="0"/>
          </a:p>
        </p:txBody>
      </p:sp>
      <p:sp>
        <p:nvSpPr>
          <p:cNvPr id="10" name="Text 8"/>
          <p:cNvSpPr/>
          <p:nvPr/>
        </p:nvSpPr>
        <p:spPr>
          <a:xfrm>
            <a:off x="301752" y="3063240"/>
            <a:ext cx="1207008" cy="201168"/>
          </a:xfrm>
          <a:prstGeom prst="rect">
            <a:avLst/>
          </a:prstGeom>
          <a:noFill/>
          <a:ln/>
        </p:spPr>
        <p:txBody>
          <a:bodyPr wrap="square" rtlCol="0" anchor="ctr"/>
          <a:lstStyle/>
          <a:p>
            <a:pPr indent="0" marL="0">
              <a:buNone/>
            </a:pPr>
            <a:r>
              <a:rPr lang="en-US" sz="850" b="1" dirty="0">
                <a:solidFill>
                  <a:srgbClr val="E94560"/>
                </a:solidFill>
                <a:latin typeface="Calibri" pitchFamily="34" charset="0"/>
                <a:ea typeface="Calibri" pitchFamily="34" charset="-122"/>
                <a:cs typeface="Calibri" pitchFamily="34" charset="-120"/>
              </a:rPr>
              <a:t>⚠ Watch out</a:t>
            </a:r>
            <a:endParaRPr lang="en-US" sz="850" dirty="0"/>
          </a:p>
        </p:txBody>
      </p:sp>
      <p:sp>
        <p:nvSpPr>
          <p:cNvPr id="11" name="Text 9"/>
          <p:cNvSpPr/>
          <p:nvPr/>
        </p:nvSpPr>
        <p:spPr>
          <a:xfrm>
            <a:off x="301752" y="326440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Novelty vs. feasibility judgment; may recycle known ideas</a:t>
            </a:r>
            <a:endParaRPr lang="en-US" sz="850" dirty="0"/>
          </a:p>
        </p:txBody>
      </p:sp>
      <p:sp>
        <p:nvSpPr>
          <p:cNvPr id="12" name="Text 10"/>
          <p:cNvSpPr/>
          <p:nvPr/>
        </p:nvSpPr>
        <p:spPr>
          <a:xfrm>
            <a:off x="1581912" y="1188720"/>
            <a:ext cx="137160" cy="502920"/>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13" name="Shape 11"/>
          <p:cNvSpPr/>
          <p:nvPr/>
        </p:nvSpPr>
        <p:spPr>
          <a:xfrm>
            <a:off x="1691640" y="1143000"/>
            <a:ext cx="1353312" cy="3383280"/>
          </a:xfrm>
          <a:prstGeom prst="rect">
            <a:avLst>
              <a:gd name="adj" fmla="val 4054"/>
            </a:avLst>
          </a:prstGeom>
          <a:solidFill>
            <a:srgbClr val="1E2E4A"/>
          </a:solidFill>
          <a:ln/>
        </p:spPr>
      </p:sp>
      <p:sp>
        <p:nvSpPr>
          <p:cNvPr id="14" name="Text 12"/>
          <p:cNvSpPr/>
          <p:nvPr/>
        </p:nvSpPr>
        <p:spPr>
          <a:xfrm>
            <a:off x="1691640" y="1188720"/>
            <a:ext cx="1353312" cy="5029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Customer</a:t>
            </a:r>
            <a:endParaRPr lang="en-US" sz="1200" dirty="0"/>
          </a:p>
          <a:p>
            <a:pPr algn="ctr" indent="0" marL="0">
              <a:buNone/>
            </a:pPr>
            <a:r>
              <a:rPr lang="en-US" sz="1200" b="1" dirty="0">
                <a:solidFill>
                  <a:srgbClr val="FFFFFF"/>
                </a:solidFill>
                <a:latin typeface="Georgia" pitchFamily="34" charset="0"/>
                <a:ea typeface="Georgia" pitchFamily="34" charset="-122"/>
                <a:cs typeface="Georgia" pitchFamily="34" charset="-120"/>
              </a:rPr>
              <a:t>Discovery</a:t>
            </a:r>
            <a:endParaRPr lang="en-US" sz="1200" dirty="0"/>
          </a:p>
        </p:txBody>
      </p:sp>
      <p:sp>
        <p:nvSpPr>
          <p:cNvPr id="15" name="Shape 13"/>
          <p:cNvSpPr/>
          <p:nvPr/>
        </p:nvSpPr>
        <p:spPr>
          <a:xfrm>
            <a:off x="1911096" y="1719072"/>
            <a:ext cx="914400" cy="228600"/>
          </a:xfrm>
          <a:prstGeom prst="roundRect">
            <a:avLst>
              <a:gd name="adj" fmla="val 24000"/>
            </a:avLst>
          </a:prstGeom>
          <a:solidFill>
            <a:srgbClr val="F5A623"/>
          </a:solidFill>
          <a:ln/>
        </p:spPr>
      </p:sp>
      <p:sp>
        <p:nvSpPr>
          <p:cNvPr id="16" name="Text 14"/>
          <p:cNvSpPr/>
          <p:nvPr/>
        </p:nvSpPr>
        <p:spPr>
          <a:xfrm>
            <a:off x="1911096" y="1719072"/>
            <a:ext cx="914400" cy="228600"/>
          </a:xfrm>
          <a:prstGeom prst="rect">
            <a:avLst/>
          </a:prstGeom>
          <a:noFill/>
          <a:ln/>
        </p:spPr>
        <p:txBody>
          <a:bodyPr wrap="square" rtlCol="0" anchor="ctr"/>
          <a:lstStyle/>
          <a:p>
            <a:pPr algn="ctr" indent="0" marL="0">
              <a:buNone/>
            </a:pPr>
            <a:r>
              <a:rPr lang="en-US" sz="800" b="1" dirty="0">
                <a:solidFill>
                  <a:srgbClr val="1A1A2E"/>
                </a:solidFill>
                <a:latin typeface="Calibri" pitchFamily="34" charset="0"/>
                <a:ea typeface="Calibri" pitchFamily="34" charset="-122"/>
                <a:cs typeface="Calibri" pitchFamily="34" charset="-120"/>
              </a:rPr>
              <a:t>FRONTIER</a:t>
            </a:r>
            <a:endParaRPr lang="en-US" sz="800" dirty="0"/>
          </a:p>
        </p:txBody>
      </p:sp>
      <p:sp>
        <p:nvSpPr>
          <p:cNvPr id="17" name="Text 15"/>
          <p:cNvSpPr/>
          <p:nvPr/>
        </p:nvSpPr>
        <p:spPr>
          <a:xfrm>
            <a:off x="1764792" y="2057400"/>
            <a:ext cx="1207008" cy="201168"/>
          </a:xfrm>
          <a:prstGeom prst="rect">
            <a:avLst/>
          </a:prstGeom>
          <a:noFill/>
          <a:ln/>
        </p:spPr>
        <p:txBody>
          <a:bodyPr wrap="square" rtlCol="0" anchor="ctr"/>
          <a:lstStyle/>
          <a:p>
            <a:pPr indent="0" marL="0">
              <a:buNone/>
            </a:pPr>
            <a:r>
              <a:rPr lang="en-US" sz="850" b="1" dirty="0">
                <a:solidFill>
                  <a:srgbClr val="2ECC71"/>
                </a:solidFill>
                <a:latin typeface="Calibri" pitchFamily="34" charset="0"/>
                <a:ea typeface="Calibri" pitchFamily="34" charset="-122"/>
                <a:cs typeface="Calibri" pitchFamily="34" charset="-120"/>
              </a:rPr>
              <a:t>✓ AI helps</a:t>
            </a:r>
            <a:endParaRPr lang="en-US" sz="850" dirty="0"/>
          </a:p>
        </p:txBody>
      </p:sp>
      <p:sp>
        <p:nvSpPr>
          <p:cNvPr id="18" name="Text 16"/>
          <p:cNvSpPr/>
          <p:nvPr/>
        </p:nvSpPr>
        <p:spPr>
          <a:xfrm>
            <a:off x="1764792" y="225856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Survey drafts, interview synthesis, persona generation</a:t>
            </a:r>
            <a:endParaRPr lang="en-US" sz="850" dirty="0"/>
          </a:p>
        </p:txBody>
      </p:sp>
      <p:sp>
        <p:nvSpPr>
          <p:cNvPr id="19" name="Text 17"/>
          <p:cNvSpPr/>
          <p:nvPr/>
        </p:nvSpPr>
        <p:spPr>
          <a:xfrm>
            <a:off x="1764792" y="3063240"/>
            <a:ext cx="1207008" cy="201168"/>
          </a:xfrm>
          <a:prstGeom prst="rect">
            <a:avLst/>
          </a:prstGeom>
          <a:noFill/>
          <a:ln/>
        </p:spPr>
        <p:txBody>
          <a:bodyPr wrap="square" rtlCol="0" anchor="ctr"/>
          <a:lstStyle/>
          <a:p>
            <a:pPr indent="0" marL="0">
              <a:buNone/>
            </a:pPr>
            <a:r>
              <a:rPr lang="en-US" sz="850" b="1" dirty="0">
                <a:solidFill>
                  <a:srgbClr val="E94560"/>
                </a:solidFill>
                <a:latin typeface="Calibri" pitchFamily="34" charset="0"/>
                <a:ea typeface="Calibri" pitchFamily="34" charset="-122"/>
                <a:cs typeface="Calibri" pitchFamily="34" charset="-120"/>
              </a:rPr>
              <a:t>⚠ Watch out</a:t>
            </a:r>
            <a:endParaRPr lang="en-US" sz="850" dirty="0"/>
          </a:p>
        </p:txBody>
      </p:sp>
      <p:sp>
        <p:nvSpPr>
          <p:cNvPr id="20" name="Text 18"/>
          <p:cNvSpPr/>
          <p:nvPr/>
        </p:nvSpPr>
        <p:spPr>
          <a:xfrm>
            <a:off x="1764792" y="326440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Fabricated insights, hallucinated user needs</a:t>
            </a:r>
            <a:endParaRPr lang="en-US" sz="850" dirty="0"/>
          </a:p>
        </p:txBody>
      </p:sp>
      <p:sp>
        <p:nvSpPr>
          <p:cNvPr id="21" name="Text 19"/>
          <p:cNvSpPr/>
          <p:nvPr/>
        </p:nvSpPr>
        <p:spPr>
          <a:xfrm>
            <a:off x="3044952" y="1188720"/>
            <a:ext cx="137160" cy="502920"/>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22" name="Shape 20"/>
          <p:cNvSpPr/>
          <p:nvPr/>
        </p:nvSpPr>
        <p:spPr>
          <a:xfrm>
            <a:off x="3154680" y="1143000"/>
            <a:ext cx="1353312" cy="3383280"/>
          </a:xfrm>
          <a:prstGeom prst="rect">
            <a:avLst>
              <a:gd name="adj" fmla="val 4054"/>
            </a:avLst>
          </a:prstGeom>
          <a:solidFill>
            <a:srgbClr val="1E2E4A"/>
          </a:solidFill>
          <a:ln/>
        </p:spPr>
      </p:sp>
      <p:sp>
        <p:nvSpPr>
          <p:cNvPr id="23" name="Text 21"/>
          <p:cNvSpPr/>
          <p:nvPr/>
        </p:nvSpPr>
        <p:spPr>
          <a:xfrm>
            <a:off x="3154680" y="1188720"/>
            <a:ext cx="1353312" cy="5029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Prototyping</a:t>
            </a:r>
            <a:endParaRPr lang="en-US" sz="1200" dirty="0"/>
          </a:p>
        </p:txBody>
      </p:sp>
      <p:sp>
        <p:nvSpPr>
          <p:cNvPr id="24" name="Shape 22"/>
          <p:cNvSpPr/>
          <p:nvPr/>
        </p:nvSpPr>
        <p:spPr>
          <a:xfrm>
            <a:off x="3374136" y="1719072"/>
            <a:ext cx="914400" cy="228600"/>
          </a:xfrm>
          <a:prstGeom prst="roundRect">
            <a:avLst>
              <a:gd name="adj" fmla="val 24000"/>
            </a:avLst>
          </a:prstGeom>
          <a:solidFill>
            <a:srgbClr val="2ECC71"/>
          </a:solidFill>
          <a:ln/>
        </p:spPr>
      </p:sp>
      <p:sp>
        <p:nvSpPr>
          <p:cNvPr id="25" name="Text 23"/>
          <p:cNvSpPr/>
          <p:nvPr/>
        </p:nvSpPr>
        <p:spPr>
          <a:xfrm>
            <a:off x="3374136" y="1719072"/>
            <a:ext cx="914400" cy="228600"/>
          </a:xfrm>
          <a:prstGeom prst="rect">
            <a:avLst/>
          </a:prstGeom>
          <a:noFill/>
          <a:ln/>
        </p:spPr>
        <p:txBody>
          <a:bodyPr wrap="square" rtlCol="0" anchor="ctr"/>
          <a:lstStyle/>
          <a:p>
            <a:pPr algn="ctr" indent="0" marL="0">
              <a:buNone/>
            </a:pPr>
            <a:r>
              <a:rPr lang="en-US" sz="800" b="1" dirty="0">
                <a:solidFill>
                  <a:srgbClr val="1A1A2E"/>
                </a:solidFill>
                <a:latin typeface="Calibri" pitchFamily="34" charset="0"/>
                <a:ea typeface="Calibri" pitchFamily="34" charset="-122"/>
                <a:cs typeface="Calibri" pitchFamily="34" charset="-120"/>
              </a:rPr>
              <a:t>INSIDE</a:t>
            </a:r>
            <a:endParaRPr lang="en-US" sz="800" dirty="0"/>
          </a:p>
        </p:txBody>
      </p:sp>
      <p:sp>
        <p:nvSpPr>
          <p:cNvPr id="26" name="Text 24"/>
          <p:cNvSpPr/>
          <p:nvPr/>
        </p:nvSpPr>
        <p:spPr>
          <a:xfrm>
            <a:off x="3227832" y="2057400"/>
            <a:ext cx="1207008" cy="201168"/>
          </a:xfrm>
          <a:prstGeom prst="rect">
            <a:avLst/>
          </a:prstGeom>
          <a:noFill/>
          <a:ln/>
        </p:spPr>
        <p:txBody>
          <a:bodyPr wrap="square" rtlCol="0" anchor="ctr"/>
          <a:lstStyle/>
          <a:p>
            <a:pPr indent="0" marL="0">
              <a:buNone/>
            </a:pPr>
            <a:r>
              <a:rPr lang="en-US" sz="850" b="1" dirty="0">
                <a:solidFill>
                  <a:srgbClr val="2ECC71"/>
                </a:solidFill>
                <a:latin typeface="Calibri" pitchFamily="34" charset="0"/>
                <a:ea typeface="Calibri" pitchFamily="34" charset="-122"/>
                <a:cs typeface="Calibri" pitchFamily="34" charset="-120"/>
              </a:rPr>
              <a:t>✓ AI helps</a:t>
            </a:r>
            <a:endParaRPr lang="en-US" sz="850" dirty="0"/>
          </a:p>
        </p:txBody>
      </p:sp>
      <p:sp>
        <p:nvSpPr>
          <p:cNvPr id="27" name="Text 25"/>
          <p:cNvSpPr/>
          <p:nvPr/>
        </p:nvSpPr>
        <p:spPr>
          <a:xfrm>
            <a:off x="3227832" y="225856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Code generation, UI mockups, MVP acceleration</a:t>
            </a:r>
            <a:endParaRPr lang="en-US" sz="850" dirty="0"/>
          </a:p>
        </p:txBody>
      </p:sp>
      <p:sp>
        <p:nvSpPr>
          <p:cNvPr id="28" name="Text 26"/>
          <p:cNvSpPr/>
          <p:nvPr/>
        </p:nvSpPr>
        <p:spPr>
          <a:xfrm>
            <a:off x="3227832" y="3063240"/>
            <a:ext cx="1207008" cy="201168"/>
          </a:xfrm>
          <a:prstGeom prst="rect">
            <a:avLst/>
          </a:prstGeom>
          <a:noFill/>
          <a:ln/>
        </p:spPr>
        <p:txBody>
          <a:bodyPr wrap="square" rtlCol="0" anchor="ctr"/>
          <a:lstStyle/>
          <a:p>
            <a:pPr indent="0" marL="0">
              <a:buNone/>
            </a:pPr>
            <a:r>
              <a:rPr lang="en-US" sz="850" b="1" dirty="0">
                <a:solidFill>
                  <a:srgbClr val="E94560"/>
                </a:solidFill>
                <a:latin typeface="Calibri" pitchFamily="34" charset="0"/>
                <a:ea typeface="Calibri" pitchFamily="34" charset="-122"/>
                <a:cs typeface="Calibri" pitchFamily="34" charset="-120"/>
              </a:rPr>
              <a:t>⚠ Watch out</a:t>
            </a:r>
            <a:endParaRPr lang="en-US" sz="850" dirty="0"/>
          </a:p>
        </p:txBody>
      </p:sp>
      <p:sp>
        <p:nvSpPr>
          <p:cNvPr id="29" name="Text 27"/>
          <p:cNvSpPr/>
          <p:nvPr/>
        </p:nvSpPr>
        <p:spPr>
          <a:xfrm>
            <a:off x="3227832" y="326440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Architecture decisions, edge-case reasoning</a:t>
            </a:r>
            <a:endParaRPr lang="en-US" sz="850" dirty="0"/>
          </a:p>
        </p:txBody>
      </p:sp>
      <p:sp>
        <p:nvSpPr>
          <p:cNvPr id="30" name="Text 28"/>
          <p:cNvSpPr/>
          <p:nvPr/>
        </p:nvSpPr>
        <p:spPr>
          <a:xfrm>
            <a:off x="4507992" y="1188720"/>
            <a:ext cx="137160" cy="502920"/>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31" name="Shape 29"/>
          <p:cNvSpPr/>
          <p:nvPr/>
        </p:nvSpPr>
        <p:spPr>
          <a:xfrm>
            <a:off x="4617720" y="1143000"/>
            <a:ext cx="1353312" cy="3383280"/>
          </a:xfrm>
          <a:prstGeom prst="rect">
            <a:avLst>
              <a:gd name="adj" fmla="val 4054"/>
            </a:avLst>
          </a:prstGeom>
          <a:solidFill>
            <a:srgbClr val="1E2E4A"/>
          </a:solidFill>
          <a:ln/>
        </p:spPr>
      </p:sp>
      <p:sp>
        <p:nvSpPr>
          <p:cNvPr id="32" name="Text 30"/>
          <p:cNvSpPr/>
          <p:nvPr/>
        </p:nvSpPr>
        <p:spPr>
          <a:xfrm>
            <a:off x="4617720" y="1188720"/>
            <a:ext cx="1353312" cy="5029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Business</a:t>
            </a:r>
            <a:endParaRPr lang="en-US" sz="1200" dirty="0"/>
          </a:p>
          <a:p>
            <a:pPr algn="ctr" indent="0" marL="0">
              <a:buNone/>
            </a:pPr>
            <a:r>
              <a:rPr lang="en-US" sz="1200" b="1" dirty="0">
                <a:solidFill>
                  <a:srgbClr val="FFFFFF"/>
                </a:solidFill>
                <a:latin typeface="Georgia" pitchFamily="34" charset="0"/>
                <a:ea typeface="Georgia" pitchFamily="34" charset="-122"/>
                <a:cs typeface="Georgia" pitchFamily="34" charset="-120"/>
              </a:rPr>
              <a:t>Model</a:t>
            </a:r>
            <a:endParaRPr lang="en-US" sz="1200" dirty="0"/>
          </a:p>
        </p:txBody>
      </p:sp>
      <p:sp>
        <p:nvSpPr>
          <p:cNvPr id="33" name="Shape 31"/>
          <p:cNvSpPr/>
          <p:nvPr/>
        </p:nvSpPr>
        <p:spPr>
          <a:xfrm>
            <a:off x="4837176" y="1719072"/>
            <a:ext cx="914400" cy="228600"/>
          </a:xfrm>
          <a:prstGeom prst="roundRect">
            <a:avLst>
              <a:gd name="adj" fmla="val 24000"/>
            </a:avLst>
          </a:prstGeom>
          <a:solidFill>
            <a:srgbClr val="F5A623"/>
          </a:solidFill>
          <a:ln/>
        </p:spPr>
      </p:sp>
      <p:sp>
        <p:nvSpPr>
          <p:cNvPr id="34" name="Text 32"/>
          <p:cNvSpPr/>
          <p:nvPr/>
        </p:nvSpPr>
        <p:spPr>
          <a:xfrm>
            <a:off x="4837176" y="1719072"/>
            <a:ext cx="914400" cy="228600"/>
          </a:xfrm>
          <a:prstGeom prst="rect">
            <a:avLst/>
          </a:prstGeom>
          <a:noFill/>
          <a:ln/>
        </p:spPr>
        <p:txBody>
          <a:bodyPr wrap="square" rtlCol="0" anchor="ctr"/>
          <a:lstStyle/>
          <a:p>
            <a:pPr algn="ctr" indent="0" marL="0">
              <a:buNone/>
            </a:pPr>
            <a:r>
              <a:rPr lang="en-US" sz="800" b="1" dirty="0">
                <a:solidFill>
                  <a:srgbClr val="1A1A2E"/>
                </a:solidFill>
                <a:latin typeface="Calibri" pitchFamily="34" charset="0"/>
                <a:ea typeface="Calibri" pitchFamily="34" charset="-122"/>
                <a:cs typeface="Calibri" pitchFamily="34" charset="-120"/>
              </a:rPr>
              <a:t>FRONTIER</a:t>
            </a:r>
            <a:endParaRPr lang="en-US" sz="800" dirty="0"/>
          </a:p>
        </p:txBody>
      </p:sp>
      <p:sp>
        <p:nvSpPr>
          <p:cNvPr id="35" name="Text 33"/>
          <p:cNvSpPr/>
          <p:nvPr/>
        </p:nvSpPr>
        <p:spPr>
          <a:xfrm>
            <a:off x="4690872" y="2057400"/>
            <a:ext cx="1207008" cy="201168"/>
          </a:xfrm>
          <a:prstGeom prst="rect">
            <a:avLst/>
          </a:prstGeom>
          <a:noFill/>
          <a:ln/>
        </p:spPr>
        <p:txBody>
          <a:bodyPr wrap="square" rtlCol="0" anchor="ctr"/>
          <a:lstStyle/>
          <a:p>
            <a:pPr indent="0" marL="0">
              <a:buNone/>
            </a:pPr>
            <a:r>
              <a:rPr lang="en-US" sz="850" b="1" dirty="0">
                <a:solidFill>
                  <a:srgbClr val="2ECC71"/>
                </a:solidFill>
                <a:latin typeface="Calibri" pitchFamily="34" charset="0"/>
                <a:ea typeface="Calibri" pitchFamily="34" charset="-122"/>
                <a:cs typeface="Calibri" pitchFamily="34" charset="-120"/>
              </a:rPr>
              <a:t>✓ AI helps</a:t>
            </a:r>
            <a:endParaRPr lang="en-US" sz="850" dirty="0"/>
          </a:p>
        </p:txBody>
      </p:sp>
      <p:sp>
        <p:nvSpPr>
          <p:cNvPr id="36" name="Text 34"/>
          <p:cNvSpPr/>
          <p:nvPr/>
        </p:nvSpPr>
        <p:spPr>
          <a:xfrm>
            <a:off x="4690872" y="225856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Canvas generation, pricing analysis, comp research</a:t>
            </a:r>
            <a:endParaRPr lang="en-US" sz="850" dirty="0"/>
          </a:p>
        </p:txBody>
      </p:sp>
      <p:sp>
        <p:nvSpPr>
          <p:cNvPr id="37" name="Text 35"/>
          <p:cNvSpPr/>
          <p:nvPr/>
        </p:nvSpPr>
        <p:spPr>
          <a:xfrm>
            <a:off x="4690872" y="3063240"/>
            <a:ext cx="1207008" cy="201168"/>
          </a:xfrm>
          <a:prstGeom prst="rect">
            <a:avLst/>
          </a:prstGeom>
          <a:noFill/>
          <a:ln/>
        </p:spPr>
        <p:txBody>
          <a:bodyPr wrap="square" rtlCol="0" anchor="ctr"/>
          <a:lstStyle/>
          <a:p>
            <a:pPr indent="0" marL="0">
              <a:buNone/>
            </a:pPr>
            <a:r>
              <a:rPr lang="en-US" sz="850" b="1" dirty="0">
                <a:solidFill>
                  <a:srgbClr val="E94560"/>
                </a:solidFill>
                <a:latin typeface="Calibri" pitchFamily="34" charset="0"/>
                <a:ea typeface="Calibri" pitchFamily="34" charset="-122"/>
                <a:cs typeface="Calibri" pitchFamily="34" charset="-120"/>
              </a:rPr>
              <a:t>⚠ Watch out</a:t>
            </a:r>
            <a:endParaRPr lang="en-US" sz="850" dirty="0"/>
          </a:p>
        </p:txBody>
      </p:sp>
      <p:sp>
        <p:nvSpPr>
          <p:cNvPr id="38" name="Text 36"/>
          <p:cNvSpPr/>
          <p:nvPr/>
        </p:nvSpPr>
        <p:spPr>
          <a:xfrm>
            <a:off x="4690872" y="326440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Market sizing accuracy, unit economics judgment</a:t>
            </a:r>
            <a:endParaRPr lang="en-US" sz="850" dirty="0"/>
          </a:p>
        </p:txBody>
      </p:sp>
      <p:sp>
        <p:nvSpPr>
          <p:cNvPr id="39" name="Text 37"/>
          <p:cNvSpPr/>
          <p:nvPr/>
        </p:nvSpPr>
        <p:spPr>
          <a:xfrm>
            <a:off x="5971032" y="1188720"/>
            <a:ext cx="137160" cy="502920"/>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40" name="Shape 38"/>
          <p:cNvSpPr/>
          <p:nvPr/>
        </p:nvSpPr>
        <p:spPr>
          <a:xfrm>
            <a:off x="6080760" y="1143000"/>
            <a:ext cx="1353312" cy="3383280"/>
          </a:xfrm>
          <a:prstGeom prst="rect">
            <a:avLst>
              <a:gd name="adj" fmla="val 4054"/>
            </a:avLst>
          </a:prstGeom>
          <a:solidFill>
            <a:srgbClr val="1E2E4A"/>
          </a:solidFill>
          <a:ln/>
        </p:spPr>
      </p:sp>
      <p:sp>
        <p:nvSpPr>
          <p:cNvPr id="41" name="Text 39"/>
          <p:cNvSpPr/>
          <p:nvPr/>
        </p:nvSpPr>
        <p:spPr>
          <a:xfrm>
            <a:off x="6080760" y="1188720"/>
            <a:ext cx="1353312" cy="5029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Fundraising</a:t>
            </a:r>
            <a:endParaRPr lang="en-US" sz="1200" dirty="0"/>
          </a:p>
        </p:txBody>
      </p:sp>
      <p:sp>
        <p:nvSpPr>
          <p:cNvPr id="42" name="Shape 40"/>
          <p:cNvSpPr/>
          <p:nvPr/>
        </p:nvSpPr>
        <p:spPr>
          <a:xfrm>
            <a:off x="6300216" y="1719072"/>
            <a:ext cx="914400" cy="228600"/>
          </a:xfrm>
          <a:prstGeom prst="roundRect">
            <a:avLst>
              <a:gd name="adj" fmla="val 24000"/>
            </a:avLst>
          </a:prstGeom>
          <a:solidFill>
            <a:srgbClr val="F5A623"/>
          </a:solidFill>
          <a:ln/>
        </p:spPr>
      </p:sp>
      <p:sp>
        <p:nvSpPr>
          <p:cNvPr id="43" name="Text 41"/>
          <p:cNvSpPr/>
          <p:nvPr/>
        </p:nvSpPr>
        <p:spPr>
          <a:xfrm>
            <a:off x="6300216" y="1719072"/>
            <a:ext cx="914400" cy="228600"/>
          </a:xfrm>
          <a:prstGeom prst="rect">
            <a:avLst/>
          </a:prstGeom>
          <a:noFill/>
          <a:ln/>
        </p:spPr>
        <p:txBody>
          <a:bodyPr wrap="square" rtlCol="0" anchor="ctr"/>
          <a:lstStyle/>
          <a:p>
            <a:pPr algn="ctr" indent="0" marL="0">
              <a:buNone/>
            </a:pPr>
            <a:r>
              <a:rPr lang="en-US" sz="800" b="1" dirty="0">
                <a:solidFill>
                  <a:srgbClr val="1A1A2E"/>
                </a:solidFill>
                <a:latin typeface="Calibri" pitchFamily="34" charset="0"/>
                <a:ea typeface="Calibri" pitchFamily="34" charset="-122"/>
                <a:cs typeface="Calibri" pitchFamily="34" charset="-120"/>
              </a:rPr>
              <a:t>FRONTIER</a:t>
            </a:r>
            <a:endParaRPr lang="en-US" sz="800" dirty="0"/>
          </a:p>
        </p:txBody>
      </p:sp>
      <p:sp>
        <p:nvSpPr>
          <p:cNvPr id="44" name="Text 42"/>
          <p:cNvSpPr/>
          <p:nvPr/>
        </p:nvSpPr>
        <p:spPr>
          <a:xfrm>
            <a:off x="6153912" y="2057400"/>
            <a:ext cx="1207008" cy="201168"/>
          </a:xfrm>
          <a:prstGeom prst="rect">
            <a:avLst/>
          </a:prstGeom>
          <a:noFill/>
          <a:ln/>
        </p:spPr>
        <p:txBody>
          <a:bodyPr wrap="square" rtlCol="0" anchor="ctr"/>
          <a:lstStyle/>
          <a:p>
            <a:pPr indent="0" marL="0">
              <a:buNone/>
            </a:pPr>
            <a:r>
              <a:rPr lang="en-US" sz="850" b="1" dirty="0">
                <a:solidFill>
                  <a:srgbClr val="2ECC71"/>
                </a:solidFill>
                <a:latin typeface="Calibri" pitchFamily="34" charset="0"/>
                <a:ea typeface="Calibri" pitchFamily="34" charset="-122"/>
                <a:cs typeface="Calibri" pitchFamily="34" charset="-120"/>
              </a:rPr>
              <a:t>✓ AI helps</a:t>
            </a:r>
            <a:endParaRPr lang="en-US" sz="850" dirty="0"/>
          </a:p>
        </p:txBody>
      </p:sp>
      <p:sp>
        <p:nvSpPr>
          <p:cNvPr id="45" name="Text 43"/>
          <p:cNvSpPr/>
          <p:nvPr/>
        </p:nvSpPr>
        <p:spPr>
          <a:xfrm>
            <a:off x="6153912" y="225856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Deck drafts, financial models, predicting investor interest &amp; simulating Q&amp;A (Csaszar et al.)</a:t>
            </a:r>
            <a:endParaRPr lang="en-US" sz="850" dirty="0"/>
          </a:p>
        </p:txBody>
      </p:sp>
      <p:sp>
        <p:nvSpPr>
          <p:cNvPr id="46" name="Text 44"/>
          <p:cNvSpPr/>
          <p:nvPr/>
        </p:nvSpPr>
        <p:spPr>
          <a:xfrm>
            <a:off x="6153912" y="3063240"/>
            <a:ext cx="1207008" cy="201168"/>
          </a:xfrm>
          <a:prstGeom prst="rect">
            <a:avLst/>
          </a:prstGeom>
          <a:noFill/>
          <a:ln/>
        </p:spPr>
        <p:txBody>
          <a:bodyPr wrap="square" rtlCol="0" anchor="ctr"/>
          <a:lstStyle/>
          <a:p>
            <a:pPr indent="0" marL="0">
              <a:buNone/>
            </a:pPr>
            <a:r>
              <a:rPr lang="en-US" sz="850" b="1" dirty="0">
                <a:solidFill>
                  <a:srgbClr val="E94560"/>
                </a:solidFill>
                <a:latin typeface="Calibri" pitchFamily="34" charset="0"/>
                <a:ea typeface="Calibri" pitchFamily="34" charset="-122"/>
                <a:cs typeface="Calibri" pitchFamily="34" charset="-120"/>
              </a:rPr>
              <a:t>⚠ Watch out</a:t>
            </a:r>
            <a:endParaRPr lang="en-US" sz="850" dirty="0"/>
          </a:p>
        </p:txBody>
      </p:sp>
      <p:sp>
        <p:nvSpPr>
          <p:cNvPr id="47" name="Text 45"/>
          <p:cNvSpPr/>
          <p:nvPr/>
        </p:nvSpPr>
        <p:spPr>
          <a:xfrm>
            <a:off x="6153912" y="326440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VC relationship nuance, strategic narrative</a:t>
            </a:r>
            <a:endParaRPr lang="en-US" sz="850" dirty="0"/>
          </a:p>
        </p:txBody>
      </p:sp>
      <p:sp>
        <p:nvSpPr>
          <p:cNvPr id="48" name="Text 46"/>
          <p:cNvSpPr/>
          <p:nvPr/>
        </p:nvSpPr>
        <p:spPr>
          <a:xfrm>
            <a:off x="7434072" y="1188720"/>
            <a:ext cx="137160" cy="502920"/>
          </a:xfrm>
          <a:prstGeom prst="rect">
            <a:avLst/>
          </a:prstGeom>
          <a:noFill/>
          <a:ln/>
        </p:spPr>
        <p:txBody>
          <a:bodyPr wrap="square" rtlCol="0" anchor="ctr"/>
          <a:lstStyle/>
          <a:p>
            <a:pPr algn="ctr" indent="0" marL="0">
              <a:buNone/>
            </a:pPr>
            <a:r>
              <a:rPr lang="en-US" sz="900" dirty="0">
                <a:solidFill>
                  <a:srgbClr val="9CA3AF"/>
                </a:solidFill>
              </a:rPr>
              <a:t>▶</a:t>
            </a:r>
            <a:endParaRPr lang="en-US" sz="900" dirty="0"/>
          </a:p>
        </p:txBody>
      </p:sp>
      <p:sp>
        <p:nvSpPr>
          <p:cNvPr id="49" name="Shape 47"/>
          <p:cNvSpPr/>
          <p:nvPr/>
        </p:nvSpPr>
        <p:spPr>
          <a:xfrm>
            <a:off x="7543800" y="1143000"/>
            <a:ext cx="1353312" cy="3383280"/>
          </a:xfrm>
          <a:prstGeom prst="rect">
            <a:avLst>
              <a:gd name="adj" fmla="val 4054"/>
            </a:avLst>
          </a:prstGeom>
          <a:solidFill>
            <a:srgbClr val="1E2E4A"/>
          </a:solidFill>
          <a:ln/>
        </p:spPr>
      </p:sp>
      <p:sp>
        <p:nvSpPr>
          <p:cNvPr id="50" name="Text 48"/>
          <p:cNvSpPr/>
          <p:nvPr/>
        </p:nvSpPr>
        <p:spPr>
          <a:xfrm>
            <a:off x="7543800" y="1188720"/>
            <a:ext cx="1353312" cy="5029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Scaling</a:t>
            </a:r>
            <a:endParaRPr lang="en-US" sz="1200" dirty="0"/>
          </a:p>
        </p:txBody>
      </p:sp>
      <p:sp>
        <p:nvSpPr>
          <p:cNvPr id="51" name="Shape 49"/>
          <p:cNvSpPr/>
          <p:nvPr/>
        </p:nvSpPr>
        <p:spPr>
          <a:xfrm>
            <a:off x="7763256" y="1719072"/>
            <a:ext cx="914400" cy="228600"/>
          </a:xfrm>
          <a:prstGeom prst="roundRect">
            <a:avLst>
              <a:gd name="adj" fmla="val 24000"/>
            </a:avLst>
          </a:prstGeom>
          <a:solidFill>
            <a:srgbClr val="F5A623"/>
          </a:solidFill>
          <a:ln/>
        </p:spPr>
      </p:sp>
      <p:sp>
        <p:nvSpPr>
          <p:cNvPr id="52" name="Text 50"/>
          <p:cNvSpPr/>
          <p:nvPr/>
        </p:nvSpPr>
        <p:spPr>
          <a:xfrm>
            <a:off x="7763256" y="1719072"/>
            <a:ext cx="914400" cy="228600"/>
          </a:xfrm>
          <a:prstGeom prst="rect">
            <a:avLst/>
          </a:prstGeom>
          <a:noFill/>
          <a:ln/>
        </p:spPr>
        <p:txBody>
          <a:bodyPr wrap="square" rtlCol="0" anchor="ctr"/>
          <a:lstStyle/>
          <a:p>
            <a:pPr algn="ctr" indent="0" marL="0">
              <a:buNone/>
            </a:pPr>
            <a:r>
              <a:rPr lang="en-US" sz="800" b="1" dirty="0">
                <a:solidFill>
                  <a:srgbClr val="1A1A2E"/>
                </a:solidFill>
                <a:latin typeface="Calibri" pitchFamily="34" charset="0"/>
                <a:ea typeface="Calibri" pitchFamily="34" charset="-122"/>
                <a:cs typeface="Calibri" pitchFamily="34" charset="-120"/>
              </a:rPr>
              <a:t>FRONTIER</a:t>
            </a:r>
            <a:endParaRPr lang="en-US" sz="800" dirty="0"/>
          </a:p>
        </p:txBody>
      </p:sp>
      <p:sp>
        <p:nvSpPr>
          <p:cNvPr id="53" name="Text 51"/>
          <p:cNvSpPr/>
          <p:nvPr/>
        </p:nvSpPr>
        <p:spPr>
          <a:xfrm>
            <a:off x="7616952" y="2057400"/>
            <a:ext cx="1207008" cy="201168"/>
          </a:xfrm>
          <a:prstGeom prst="rect">
            <a:avLst/>
          </a:prstGeom>
          <a:noFill/>
          <a:ln/>
        </p:spPr>
        <p:txBody>
          <a:bodyPr wrap="square" rtlCol="0" anchor="ctr"/>
          <a:lstStyle/>
          <a:p>
            <a:pPr indent="0" marL="0">
              <a:buNone/>
            </a:pPr>
            <a:r>
              <a:rPr lang="en-US" sz="850" b="1" dirty="0">
                <a:solidFill>
                  <a:srgbClr val="2ECC71"/>
                </a:solidFill>
                <a:latin typeface="Calibri" pitchFamily="34" charset="0"/>
                <a:ea typeface="Calibri" pitchFamily="34" charset="-122"/>
                <a:cs typeface="Calibri" pitchFamily="34" charset="-120"/>
              </a:rPr>
              <a:t>✓ AI helps</a:t>
            </a:r>
            <a:endParaRPr lang="en-US" sz="850" dirty="0"/>
          </a:p>
        </p:txBody>
      </p:sp>
      <p:sp>
        <p:nvSpPr>
          <p:cNvPr id="54" name="Text 52"/>
          <p:cNvSpPr/>
          <p:nvPr/>
        </p:nvSpPr>
        <p:spPr>
          <a:xfrm>
            <a:off x="7616952" y="225856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Ops automation, support bots, ad optimization</a:t>
            </a:r>
            <a:endParaRPr lang="en-US" sz="850" dirty="0"/>
          </a:p>
        </p:txBody>
      </p:sp>
      <p:sp>
        <p:nvSpPr>
          <p:cNvPr id="55" name="Text 53"/>
          <p:cNvSpPr/>
          <p:nvPr/>
        </p:nvSpPr>
        <p:spPr>
          <a:xfrm>
            <a:off x="7616952" y="3063240"/>
            <a:ext cx="1207008" cy="201168"/>
          </a:xfrm>
          <a:prstGeom prst="rect">
            <a:avLst/>
          </a:prstGeom>
          <a:noFill/>
          <a:ln/>
        </p:spPr>
        <p:txBody>
          <a:bodyPr wrap="square" rtlCol="0" anchor="ctr"/>
          <a:lstStyle/>
          <a:p>
            <a:pPr indent="0" marL="0">
              <a:buNone/>
            </a:pPr>
            <a:r>
              <a:rPr lang="en-US" sz="850" b="1" dirty="0">
                <a:solidFill>
                  <a:srgbClr val="E94560"/>
                </a:solidFill>
                <a:latin typeface="Calibri" pitchFamily="34" charset="0"/>
                <a:ea typeface="Calibri" pitchFamily="34" charset="-122"/>
                <a:cs typeface="Calibri" pitchFamily="34" charset="-120"/>
              </a:rPr>
              <a:t>⚠ Watch out</a:t>
            </a:r>
            <a:endParaRPr lang="en-US" sz="850" dirty="0"/>
          </a:p>
        </p:txBody>
      </p:sp>
      <p:sp>
        <p:nvSpPr>
          <p:cNvPr id="56" name="Text 54"/>
          <p:cNvSpPr/>
          <p:nvPr/>
        </p:nvSpPr>
        <p:spPr>
          <a:xfrm>
            <a:off x="7616952" y="3264408"/>
            <a:ext cx="1207008" cy="777240"/>
          </a:xfrm>
          <a:prstGeom prst="rect">
            <a:avLst/>
          </a:prstGeom>
          <a:noFill/>
          <a:ln/>
        </p:spPr>
        <p:txBody>
          <a:bodyPr wrap="square" rtlCol="0" anchor="t"/>
          <a:lstStyle/>
          <a:p>
            <a:pPr indent="0" marL="0">
              <a:buNone/>
            </a:pPr>
            <a:r>
              <a:rPr lang="en-US" sz="850" dirty="0">
                <a:solidFill>
                  <a:srgbClr val="CBD5E1"/>
                </a:solidFill>
                <a:latin typeface="Calibri" pitchFamily="34" charset="0"/>
                <a:ea typeface="Calibri" pitchFamily="34" charset="-122"/>
                <a:cs typeface="Calibri" pitchFamily="34" charset="-120"/>
              </a:rPr>
              <a:t>Culture, hiring judgment, regulatory compliance</a:t>
            </a:r>
            <a:endParaRPr lang="en-US" sz="850" dirty="0"/>
          </a:p>
        </p:txBody>
      </p:sp>
      <p:sp>
        <p:nvSpPr>
          <p:cNvPr id="57" name="Shape 55"/>
          <p:cNvSpPr/>
          <p:nvPr/>
        </p:nvSpPr>
        <p:spPr>
          <a:xfrm>
            <a:off x="0" y="4572000"/>
            <a:ext cx="9144000" cy="320040"/>
          </a:xfrm>
          <a:prstGeom prst="rect">
            <a:avLst/>
          </a:prstGeom>
          <a:solidFill>
            <a:srgbClr val="8C1515"/>
          </a:solidFill>
          <a:ln/>
        </p:spPr>
      </p:sp>
      <p:sp>
        <p:nvSpPr>
          <p:cNvPr id="58" name="Text 56"/>
          <p:cNvSpPr/>
          <p:nvPr/>
        </p:nvSpPr>
        <p:spPr>
          <a:xfrm>
            <a:off x="457200" y="4572000"/>
            <a:ext cx="8229600" cy="320040"/>
          </a:xfrm>
          <a:prstGeom prst="rect">
            <a:avLst/>
          </a:prstGeom>
          <a:noFill/>
          <a:ln/>
        </p:spPr>
        <p:txBody>
          <a:bodyPr wrap="square"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The jagged frontier runs through every stage. The question isn’t whether to use AI — it’s knowing which side you’re on.</a:t>
            </a:r>
            <a:endParaRPr lang="en-US" sz="1050" dirty="0"/>
          </a:p>
        </p:txBody>
      </p:sp>
      <p:sp>
        <p:nvSpPr>
          <p:cNvPr id="60" name="Text 57"/>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The Autonomous Company Experiment</a:t>
            </a:r>
            <a:endParaRPr lang="en-US" sz="2800" dirty="0"/>
          </a:p>
        </p:txBody>
      </p:sp>
      <p:sp>
        <p:nvSpPr>
          <p:cNvPr id="3" name="Shape 1"/>
          <p:cNvSpPr/>
          <p:nvPr/>
        </p:nvSpPr>
        <p:spPr>
          <a:xfrm>
            <a:off x="548640" y="960120"/>
            <a:ext cx="640080" cy="640080"/>
          </a:xfrm>
          <a:prstGeom prst="ellipse">
            <a:avLst/>
          </a:prstGeom>
          <a:solidFill>
            <a:srgbClr val="0F969C"/>
          </a:solidFill>
          <a:ln/>
        </p:spPr>
      </p:sp>
      <p:sp>
        <p:nvSpPr>
          <p:cNvPr id="4" name="Text 2"/>
          <p:cNvSpPr/>
          <p:nvPr/>
        </p:nvSpPr>
        <p:spPr>
          <a:xfrm>
            <a:off x="548640" y="960120"/>
            <a:ext cx="640080" cy="6400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EY</a:t>
            </a:r>
            <a:endParaRPr lang="en-US" sz="1600" dirty="0"/>
          </a:p>
        </p:txBody>
      </p:sp>
      <p:sp>
        <p:nvSpPr>
          <p:cNvPr id="5" name="Text 3"/>
          <p:cNvSpPr/>
          <p:nvPr/>
        </p:nvSpPr>
        <p:spPr>
          <a:xfrm>
            <a:off x="1325880" y="960120"/>
            <a:ext cx="4572000" cy="64008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Elizabeth Yin</a:t>
            </a:r>
            <a:endParaRPr lang="en-US" sz="1400" dirty="0"/>
          </a:p>
          <a:p>
            <a:pPr indent="0" marL="0">
              <a:buNone/>
            </a:pPr>
            <a:r>
              <a:rPr lang="en-US" sz="1000" dirty="0">
                <a:solidFill>
                  <a:srgbClr val="9CA3AF"/>
                </a:solidFill>
                <a:latin typeface="Calibri" pitchFamily="34" charset="0"/>
                <a:ea typeface="Calibri" pitchFamily="34" charset="-122"/>
                <a:cs typeface="Calibri" pitchFamily="34" charset="-120"/>
              </a:rPr>
              <a:t>General Partner, Hustle Fund  |  Paperclip (open source)</a:t>
            </a:r>
            <a:endParaRPr lang="en-US" sz="1400" dirty="0"/>
          </a:p>
        </p:txBody>
      </p:sp>
      <p:sp>
        <p:nvSpPr>
          <p:cNvPr id="6" name="Shape 4"/>
          <p:cNvSpPr/>
          <p:nvPr/>
        </p:nvSpPr>
        <p:spPr>
          <a:xfrm>
            <a:off x="457200" y="1783080"/>
            <a:ext cx="393192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457200" y="1783080"/>
            <a:ext cx="3931920" cy="54864"/>
          </a:xfrm>
          <a:prstGeom prst="rect">
            <a:avLst/>
          </a:prstGeom>
          <a:solidFill>
            <a:srgbClr val="0F969C"/>
          </a:solidFill>
          <a:ln/>
        </p:spPr>
      </p:sp>
      <p:sp>
        <p:nvSpPr>
          <p:cNvPr id="8" name="Text 6"/>
          <p:cNvSpPr/>
          <p:nvPr/>
        </p:nvSpPr>
        <p:spPr>
          <a:xfrm>
            <a:off x="640080" y="1874520"/>
            <a:ext cx="3566160" cy="274320"/>
          </a:xfrm>
          <a:prstGeom prst="rect">
            <a:avLst/>
          </a:prstGeom>
          <a:noFill/>
          <a:ln/>
        </p:spPr>
        <p:txBody>
          <a:bodyPr wrap="square" rtlCol="0" anchor="ctr"/>
          <a:lstStyle/>
          <a:p>
            <a:pPr indent="0" marL="0">
              <a:buNone/>
            </a:pPr>
            <a:r>
              <a:rPr lang="en-US" sz="1400" b="1" dirty="0">
                <a:solidFill>
                  <a:srgbClr val="0F969C"/>
                </a:solidFill>
                <a:latin typeface="Georgia" pitchFamily="34" charset="0"/>
                <a:ea typeface="Georgia" pitchFamily="34" charset="-122"/>
                <a:cs typeface="Georgia" pitchFamily="34" charset="-120"/>
              </a:rPr>
              <a:t>The Good</a:t>
            </a:r>
            <a:endParaRPr lang="en-US" sz="1400" dirty="0"/>
          </a:p>
        </p:txBody>
      </p:sp>
      <p:sp>
        <p:nvSpPr>
          <p:cNvPr id="9" name="Text 7"/>
          <p:cNvSpPr/>
          <p:nvPr/>
        </p:nvSpPr>
        <p:spPr>
          <a:xfrm>
            <a:off x="640080" y="2148840"/>
            <a:ext cx="3566160" cy="1051560"/>
          </a:xfrm>
          <a:prstGeom prst="rect">
            <a:avLst/>
          </a:prstGeom>
          <a:noFill/>
          <a:ln/>
        </p:spPr>
        <p:txBody>
          <a:bodyPr wrap="square" rtlCol="0" anchor="ctr"/>
          <a:lstStyle/>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Multiple AI agents (content, SEO, dev) coordinate out of the box</a:t>
            </a:r>
            <a:endParaRPr lang="en-US" sz="1050" dirty="0"/>
          </a:p>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Set the vision as a "board member" — agents execute</a:t>
            </a:r>
            <a:endParaRPr lang="en-US" sz="1050" dirty="0"/>
          </a:p>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No company culture or morale concerns (they work 24/7)</a:t>
            </a:r>
            <a:endParaRPr lang="en-US" sz="1050" dirty="0"/>
          </a:p>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Dramatically less work than manual company building</a:t>
            </a:r>
            <a:endParaRPr lang="en-US" sz="1050" dirty="0"/>
          </a:p>
        </p:txBody>
      </p:sp>
      <p:sp>
        <p:nvSpPr>
          <p:cNvPr id="10" name="Shape 8"/>
          <p:cNvSpPr/>
          <p:nvPr/>
        </p:nvSpPr>
        <p:spPr>
          <a:xfrm>
            <a:off x="4754880" y="1783080"/>
            <a:ext cx="3931920" cy="1508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4754880" y="1783080"/>
            <a:ext cx="3931920" cy="54864"/>
          </a:xfrm>
          <a:prstGeom prst="rect">
            <a:avLst/>
          </a:prstGeom>
          <a:solidFill>
            <a:srgbClr val="E94560"/>
          </a:solidFill>
          <a:ln/>
        </p:spPr>
      </p:sp>
      <p:sp>
        <p:nvSpPr>
          <p:cNvPr id="12" name="Text 10"/>
          <p:cNvSpPr/>
          <p:nvPr/>
        </p:nvSpPr>
        <p:spPr>
          <a:xfrm>
            <a:off x="4937760" y="1874520"/>
            <a:ext cx="3566160" cy="274320"/>
          </a:xfrm>
          <a:prstGeom prst="rect">
            <a:avLst/>
          </a:prstGeom>
          <a:noFill/>
          <a:ln/>
        </p:spPr>
        <p:txBody>
          <a:bodyPr wrap="square" rtlCol="0" anchor="ctr"/>
          <a:lstStyle/>
          <a:p>
            <a:pPr indent="0" marL="0">
              <a:buNone/>
            </a:pPr>
            <a:r>
              <a:rPr lang="en-US" sz="1400" b="1" dirty="0">
                <a:solidFill>
                  <a:srgbClr val="E94560"/>
                </a:solidFill>
                <a:latin typeface="Georgia" pitchFamily="34" charset="0"/>
                <a:ea typeface="Georgia" pitchFamily="34" charset="-122"/>
                <a:cs typeface="Georgia" pitchFamily="34" charset="-120"/>
              </a:rPr>
              <a:t>The Reality</a:t>
            </a:r>
            <a:endParaRPr lang="en-US" sz="1400" dirty="0"/>
          </a:p>
        </p:txBody>
      </p:sp>
      <p:sp>
        <p:nvSpPr>
          <p:cNvPr id="13" name="Text 11"/>
          <p:cNvSpPr/>
          <p:nvPr/>
        </p:nvSpPr>
        <p:spPr>
          <a:xfrm>
            <a:off x="4937760" y="2148840"/>
            <a:ext cx="3566160" cy="1051560"/>
          </a:xfrm>
          <a:prstGeom prst="rect">
            <a:avLst/>
          </a:prstGeom>
          <a:noFill/>
          <a:ln/>
        </p:spPr>
        <p:txBody>
          <a:bodyPr wrap="square" rtlCol="0" anchor="ctr"/>
          <a:lstStyle/>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"Autonomous" still requires daily management and direction</a:t>
            </a:r>
            <a:endParaRPr lang="en-US" sz="1050" dirty="0"/>
          </a:p>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SEO agent was bad at SEO — improved only after Yin intervened</a:t>
            </a:r>
            <a:endParaRPr lang="en-US" sz="1050" dirty="0"/>
          </a:p>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Built a lot, but no one came to the website</a:t>
            </a:r>
            <a:endParaRPr lang="en-US" sz="1050" dirty="0"/>
          </a:p>
          <a:p>
            <a:pPr marL="342900" indent="-342900">
              <a:spcAft>
                <a:spcPts val="200"/>
              </a:spcAft>
              <a:buSzPct val="100000"/>
              <a:buChar char="•"/>
            </a:pPr>
            <a:r>
              <a:rPr lang="en-US" sz="1050" dirty="0">
                <a:solidFill>
                  <a:srgbClr val="374151"/>
                </a:solidFill>
                <a:latin typeface="Calibri" pitchFamily="34" charset="0"/>
                <a:ea typeface="Calibri" pitchFamily="34" charset="-122"/>
                <a:cs typeface="Calibri" pitchFamily="34" charset="-120"/>
              </a:rPr>
              <a:t>No sales agent. Building isn't the hard part — distribution is.</a:t>
            </a:r>
            <a:endParaRPr lang="en-US" sz="1050" dirty="0"/>
          </a:p>
        </p:txBody>
      </p:sp>
      <p:sp>
        <p:nvSpPr>
          <p:cNvPr id="14" name="Shape 12"/>
          <p:cNvSpPr/>
          <p:nvPr/>
        </p:nvSpPr>
        <p:spPr>
          <a:xfrm>
            <a:off x="457200" y="3474720"/>
            <a:ext cx="8229600" cy="5943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Shape 13"/>
          <p:cNvSpPr/>
          <p:nvPr/>
        </p:nvSpPr>
        <p:spPr>
          <a:xfrm>
            <a:off x="457200" y="3474720"/>
            <a:ext cx="64008" cy="594360"/>
          </a:xfrm>
          <a:prstGeom prst="rect">
            <a:avLst/>
          </a:prstGeom>
          <a:solidFill>
            <a:srgbClr val="F5A623"/>
          </a:solidFill>
          <a:ln/>
        </p:spPr>
      </p:sp>
      <p:sp>
        <p:nvSpPr>
          <p:cNvPr id="16" name="Text 14"/>
          <p:cNvSpPr/>
          <p:nvPr/>
        </p:nvSpPr>
        <p:spPr>
          <a:xfrm>
            <a:off x="731520" y="3520440"/>
            <a:ext cx="7772400" cy="502920"/>
          </a:xfrm>
          <a:prstGeom prst="rect">
            <a:avLst/>
          </a:prstGeom>
          <a:noFill/>
          <a:ln/>
        </p:spPr>
        <p:txBody>
          <a:bodyPr wrap="square" rtlCol="0" anchor="ctr"/>
          <a:lstStyle/>
          <a:p>
            <a:pPr indent="0" marL="0">
              <a:buNone/>
            </a:pPr>
            <a:r>
              <a:rPr lang="en-US" sz="1150" b="1" i="1" dirty="0">
                <a:solidFill>
                  <a:srgbClr val="1E293B"/>
                </a:solidFill>
                <a:latin typeface="Calibri" pitchFamily="34" charset="0"/>
                <a:ea typeface="Calibri" pitchFamily="34" charset="-122"/>
                <a:cs typeface="Calibri" pitchFamily="34" charset="-120"/>
              </a:rPr>
              <a:t>Yin’s verdict: </a:t>
            </a:r>
            <a:pPr indent="0" marL="0">
              <a:buNone/>
            </a:pPr>
            <a:r>
              <a:rPr lang="en-US" sz="1150" i="1" dirty="0">
                <a:solidFill>
                  <a:srgbClr val="374151"/>
                </a:solidFill>
                <a:latin typeface="Calibri" pitchFamily="34" charset="0"/>
                <a:ea typeface="Calibri" pitchFamily="34" charset="-122"/>
                <a:cs typeface="Calibri" pitchFamily="34" charset="-120"/>
              </a:rPr>
              <a:t>"While not ready for prime time today, Paperclip shows where we’re headed. The technology is advancing faster than I imagined."</a:t>
            </a:r>
            <a:endParaRPr lang="en-US" sz="1150" dirty="0"/>
          </a:p>
        </p:txBody>
      </p:sp>
      <p:sp>
        <p:nvSpPr>
          <p:cNvPr id="17" name="Shape 15"/>
          <p:cNvSpPr/>
          <p:nvPr/>
        </p:nvSpPr>
        <p:spPr>
          <a:xfrm>
            <a:off x="457200" y="4160520"/>
            <a:ext cx="8229600" cy="777240"/>
          </a:xfrm>
          <a:prstGeom prst="rect">
            <a:avLst/>
          </a:prstGeom>
          <a:solidFill>
            <a:srgbClr val="16213E"/>
          </a:solidFill>
          <a:ln/>
        </p:spPr>
      </p:sp>
      <p:sp>
        <p:nvSpPr>
          <p:cNvPr id="18" name="Text 16"/>
          <p:cNvSpPr/>
          <p:nvPr/>
        </p:nvSpPr>
        <p:spPr>
          <a:xfrm>
            <a:off x="640080" y="4178808"/>
            <a:ext cx="7863840" cy="73152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The zero-human company wave: </a:t>
            </a:r>
            <a:pPr indent="0" marL="0">
              <a:buNone/>
            </a:pPr>
            <a:r>
              <a:rPr lang="en-US" sz="1050" dirty="0">
                <a:solidFill>
                  <a:srgbClr val="CBD5E1"/>
                </a:solidFill>
                <a:latin typeface="Calibri" pitchFamily="34" charset="0"/>
                <a:ea typeface="Calibri" pitchFamily="34" charset="-122"/>
                <a:cs typeface="Calibri" pitchFamily="34" charset="-120"/>
              </a:rPr>
              <a:t>Paperclip crossed 42K GitHub stars. Polsia: one founder, 3,812 AI-operated companies, $3.6M run rate. KPMG tested an AI-only webshop with an agent CEO. 2025 was the year of the AI employee — 2026 is the year of the AI company.</a:t>
            </a:r>
            <a:endParaRPr lang="en-US" sz="1100" dirty="0"/>
          </a:p>
        </p:txBody>
      </p:sp>
      <p:sp>
        <p:nvSpPr>
          <p:cNvPr id="19" name="Shape 17"/>
          <p:cNvSpPr/>
          <p:nvPr/>
        </p:nvSpPr>
        <p:spPr>
          <a:xfrm>
            <a:off x="0" y="4892040"/>
            <a:ext cx="9144000" cy="251460"/>
          </a:xfrm>
          <a:prstGeom prst="rect">
            <a:avLst/>
          </a:prstGeom>
          <a:solidFill>
            <a:srgbClr val="8C1515"/>
          </a:solidFill>
          <a:ln/>
        </p:spPr>
      </p:sp>
      <p:sp>
        <p:nvSpPr>
          <p:cNvPr id="21" name="Text 18"/>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The One-Person Billion-Dollar Company</a:t>
            </a:r>
            <a:endParaRPr lang="en-US" sz="2800" dirty="0"/>
          </a:p>
        </p:txBody>
      </p:sp>
      <p:sp>
        <p:nvSpPr>
          <p:cNvPr id="3" name="Shape 1"/>
          <p:cNvSpPr/>
          <p:nvPr/>
        </p:nvSpPr>
        <p:spPr>
          <a:xfrm>
            <a:off x="548640" y="914400"/>
            <a:ext cx="640080" cy="640080"/>
          </a:xfrm>
          <a:prstGeom prst="ellipse">
            <a:avLst/>
          </a:prstGeom>
          <a:solidFill>
            <a:srgbClr val="16213E"/>
          </a:solidFill>
          <a:ln/>
        </p:spPr>
      </p:sp>
      <p:sp>
        <p:nvSpPr>
          <p:cNvPr id="4" name="Text 2"/>
          <p:cNvSpPr/>
          <p:nvPr/>
        </p:nvSpPr>
        <p:spPr>
          <a:xfrm>
            <a:off x="548640" y="914400"/>
            <a:ext cx="640080" cy="6400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MG</a:t>
            </a:r>
            <a:endParaRPr lang="en-US" sz="1600" dirty="0"/>
          </a:p>
        </p:txBody>
      </p:sp>
      <p:sp>
        <p:nvSpPr>
          <p:cNvPr id="5" name="Text 3"/>
          <p:cNvSpPr/>
          <p:nvPr/>
        </p:nvSpPr>
        <p:spPr>
          <a:xfrm>
            <a:off x="1325880" y="914400"/>
            <a:ext cx="5029200" cy="64008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Matthew Gallagher, 41</a:t>
            </a:r>
            <a:endParaRPr lang="en-US" sz="1300" dirty="0"/>
          </a:p>
          <a:p>
            <a:pPr indent="0" marL="0">
              <a:buNone/>
            </a:pPr>
            <a:r>
              <a:rPr lang="en-US" sz="1000" dirty="0">
                <a:solidFill>
                  <a:srgbClr val="9CA3AF"/>
                </a:solidFill>
                <a:latin typeface="Calibri" pitchFamily="34" charset="0"/>
                <a:ea typeface="Calibri" pitchFamily="34" charset="-122"/>
                <a:cs typeface="Calibri" pitchFamily="34" charset="-120"/>
              </a:rPr>
              <a:t>Founder, Medvi  |  Erin Griffith, NYT, April 2, 2026</a:t>
            </a:r>
            <a:endParaRPr lang="en-US" sz="1300" dirty="0"/>
          </a:p>
        </p:txBody>
      </p:sp>
      <p:sp>
        <p:nvSpPr>
          <p:cNvPr id="6" name="Shape 4"/>
          <p:cNvSpPr/>
          <p:nvPr/>
        </p:nvSpPr>
        <p:spPr>
          <a:xfrm>
            <a:off x="457200" y="1691640"/>
            <a:ext cx="1965960" cy="868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457200" y="1691640"/>
            <a:ext cx="1965960" cy="502920"/>
          </a:xfrm>
          <a:prstGeom prst="rect">
            <a:avLst/>
          </a:prstGeom>
          <a:noFill/>
          <a:ln/>
        </p:spPr>
        <p:txBody>
          <a:bodyPr wrap="square" rtlCol="0" anchor="b"/>
          <a:lstStyle/>
          <a:p>
            <a:pPr algn="ctr" indent="0" marL="0">
              <a:buNone/>
            </a:pPr>
            <a:r>
              <a:rPr lang="en-US" sz="2000" b="1" dirty="0">
                <a:solidFill>
                  <a:srgbClr val="1E293B"/>
                </a:solidFill>
                <a:latin typeface="Georgia" pitchFamily="34" charset="0"/>
                <a:ea typeface="Georgia" pitchFamily="34" charset="-122"/>
                <a:cs typeface="Georgia" pitchFamily="34" charset="-120"/>
              </a:rPr>
              <a:t>$20K</a:t>
            </a:r>
            <a:endParaRPr lang="en-US" sz="2000" dirty="0"/>
          </a:p>
        </p:txBody>
      </p:sp>
      <p:sp>
        <p:nvSpPr>
          <p:cNvPr id="8" name="Text 6"/>
          <p:cNvSpPr/>
          <p:nvPr/>
        </p:nvSpPr>
        <p:spPr>
          <a:xfrm>
            <a:off x="457200" y="2194560"/>
            <a:ext cx="1965960" cy="32004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initial</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investment</a:t>
            </a:r>
            <a:endParaRPr lang="en-US" sz="900" dirty="0"/>
          </a:p>
        </p:txBody>
      </p:sp>
      <p:sp>
        <p:nvSpPr>
          <p:cNvPr id="9" name="Shape 7"/>
          <p:cNvSpPr/>
          <p:nvPr/>
        </p:nvSpPr>
        <p:spPr>
          <a:xfrm>
            <a:off x="2606040" y="1691640"/>
            <a:ext cx="1965960" cy="868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Text 8"/>
          <p:cNvSpPr/>
          <p:nvPr/>
        </p:nvSpPr>
        <p:spPr>
          <a:xfrm>
            <a:off x="2606040" y="1691640"/>
            <a:ext cx="1965960" cy="502920"/>
          </a:xfrm>
          <a:prstGeom prst="rect">
            <a:avLst/>
          </a:prstGeom>
          <a:noFill/>
          <a:ln/>
        </p:spPr>
        <p:txBody>
          <a:bodyPr wrap="square" rtlCol="0" anchor="b"/>
          <a:lstStyle/>
          <a:p>
            <a:pPr algn="ctr" indent="0" marL="0">
              <a:buNone/>
            </a:pPr>
            <a:r>
              <a:rPr lang="en-US" sz="2000" b="1" dirty="0">
                <a:solidFill>
                  <a:srgbClr val="1E293B"/>
                </a:solidFill>
                <a:latin typeface="Georgia" pitchFamily="34" charset="0"/>
                <a:ea typeface="Georgia" pitchFamily="34" charset="-122"/>
                <a:cs typeface="Georgia" pitchFamily="34" charset="-120"/>
              </a:rPr>
              <a:t>2 mo</a:t>
            </a:r>
            <a:endParaRPr lang="en-US" sz="2000" dirty="0"/>
          </a:p>
        </p:txBody>
      </p:sp>
      <p:sp>
        <p:nvSpPr>
          <p:cNvPr id="11" name="Text 9"/>
          <p:cNvSpPr/>
          <p:nvPr/>
        </p:nvSpPr>
        <p:spPr>
          <a:xfrm>
            <a:off x="2606040" y="2194560"/>
            <a:ext cx="1965960" cy="32004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to</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launch</a:t>
            </a:r>
            <a:endParaRPr lang="en-US" sz="900" dirty="0"/>
          </a:p>
        </p:txBody>
      </p:sp>
      <p:sp>
        <p:nvSpPr>
          <p:cNvPr id="12" name="Shape 10"/>
          <p:cNvSpPr/>
          <p:nvPr/>
        </p:nvSpPr>
        <p:spPr>
          <a:xfrm>
            <a:off x="4754880" y="1691640"/>
            <a:ext cx="1965960" cy="868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Text 11"/>
          <p:cNvSpPr/>
          <p:nvPr/>
        </p:nvSpPr>
        <p:spPr>
          <a:xfrm>
            <a:off x="4754880" y="1691640"/>
            <a:ext cx="1965960" cy="502920"/>
          </a:xfrm>
          <a:prstGeom prst="rect">
            <a:avLst/>
          </a:prstGeom>
          <a:noFill/>
          <a:ln/>
        </p:spPr>
        <p:txBody>
          <a:bodyPr wrap="square" rtlCol="0" anchor="b"/>
          <a:lstStyle/>
          <a:p>
            <a:pPr algn="ctr" indent="0" marL="0">
              <a:buNone/>
            </a:pPr>
            <a:r>
              <a:rPr lang="en-US" sz="2000" b="1" dirty="0">
                <a:solidFill>
                  <a:srgbClr val="1E293B"/>
                </a:solidFill>
                <a:latin typeface="Georgia" pitchFamily="34" charset="0"/>
                <a:ea typeface="Georgia" pitchFamily="34" charset="-122"/>
                <a:cs typeface="Georgia" pitchFamily="34" charset="-120"/>
              </a:rPr>
              <a:t>$401M</a:t>
            </a:r>
            <a:endParaRPr lang="en-US" sz="2000" dirty="0"/>
          </a:p>
        </p:txBody>
      </p:sp>
      <p:sp>
        <p:nvSpPr>
          <p:cNvPr id="14" name="Text 12"/>
          <p:cNvSpPr/>
          <p:nvPr/>
        </p:nvSpPr>
        <p:spPr>
          <a:xfrm>
            <a:off x="4754880" y="2194560"/>
            <a:ext cx="1965960" cy="32004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Year 1</a:t>
            </a:r>
            <a:endParaRPr lang="en-US" sz="900" dirty="0"/>
          </a:p>
          <a:p>
            <a:pPr algn="ctr" indent="0" marL="0">
              <a:buNone/>
            </a:pPr>
            <a:r>
              <a:rPr lang="en-US" sz="900" dirty="0">
                <a:solidFill>
                  <a:srgbClr val="9CA3AF"/>
                </a:solidFill>
                <a:latin typeface="Calibri" pitchFamily="34" charset="0"/>
                <a:ea typeface="Calibri" pitchFamily="34" charset="-122"/>
                <a:cs typeface="Calibri" pitchFamily="34" charset="-120"/>
              </a:rPr>
              <a:t>revenue</a:t>
            </a:r>
            <a:endParaRPr lang="en-US" sz="900" dirty="0"/>
          </a:p>
        </p:txBody>
      </p:sp>
      <p:sp>
        <p:nvSpPr>
          <p:cNvPr id="15" name="Shape 13"/>
          <p:cNvSpPr/>
          <p:nvPr/>
        </p:nvSpPr>
        <p:spPr>
          <a:xfrm>
            <a:off x="6903720" y="1691640"/>
            <a:ext cx="1965960" cy="86868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16" name="Text 14"/>
          <p:cNvSpPr/>
          <p:nvPr/>
        </p:nvSpPr>
        <p:spPr>
          <a:xfrm>
            <a:off x="6903720" y="1691640"/>
            <a:ext cx="1965960" cy="502920"/>
          </a:xfrm>
          <a:prstGeom prst="rect">
            <a:avLst/>
          </a:prstGeom>
          <a:noFill/>
          <a:ln/>
        </p:spPr>
        <p:txBody>
          <a:bodyPr wrap="square" rtlCol="0" anchor="b"/>
          <a:lstStyle/>
          <a:p>
            <a:pPr algn="ctr" indent="0" marL="0">
              <a:buNone/>
            </a:pPr>
            <a:r>
              <a:rPr lang="en-US" sz="2200" b="1" dirty="0">
                <a:solidFill>
                  <a:srgbClr val="0F969C"/>
                </a:solidFill>
                <a:latin typeface="Georgia" pitchFamily="34" charset="0"/>
                <a:ea typeface="Georgia" pitchFamily="34" charset="-122"/>
                <a:cs typeface="Georgia" pitchFamily="34" charset="-120"/>
              </a:rPr>
              <a:t>$1.8B</a:t>
            </a:r>
            <a:endParaRPr lang="en-US" sz="2200" dirty="0"/>
          </a:p>
        </p:txBody>
      </p:sp>
      <p:sp>
        <p:nvSpPr>
          <p:cNvPr id="17" name="Text 15"/>
          <p:cNvSpPr/>
          <p:nvPr/>
        </p:nvSpPr>
        <p:spPr>
          <a:xfrm>
            <a:off x="6903720" y="2194560"/>
            <a:ext cx="1965960" cy="320040"/>
          </a:xfrm>
          <a:prstGeom prst="rect">
            <a:avLst/>
          </a:prstGeom>
          <a:noFill/>
          <a:ln/>
        </p:spPr>
        <p:txBody>
          <a:bodyPr wrap="square" rtlCol="0" anchor="ctr"/>
          <a:lstStyle/>
          <a:p>
            <a:pPr algn="ctr" indent="0" marL="0">
              <a:buNone/>
            </a:pPr>
            <a:r>
              <a:rPr lang="en-US" sz="900" dirty="0">
                <a:solidFill>
                  <a:srgbClr val="CBD5E1"/>
                </a:solidFill>
                <a:latin typeface="Calibri" pitchFamily="34" charset="0"/>
                <a:ea typeface="Calibri" pitchFamily="34" charset="-122"/>
                <a:cs typeface="Calibri" pitchFamily="34" charset="-120"/>
              </a:rPr>
              <a:t>2026</a:t>
            </a:r>
            <a:endParaRPr lang="en-US" sz="900" dirty="0"/>
          </a:p>
          <a:p>
            <a:pPr algn="ctr" indent="0" marL="0">
              <a:buNone/>
            </a:pPr>
            <a:r>
              <a:rPr lang="en-US" sz="900" dirty="0">
                <a:solidFill>
                  <a:srgbClr val="CBD5E1"/>
                </a:solidFill>
                <a:latin typeface="Calibri" pitchFamily="34" charset="0"/>
                <a:ea typeface="Calibri" pitchFamily="34" charset="-122"/>
                <a:cs typeface="Calibri" pitchFamily="34" charset="-120"/>
              </a:rPr>
              <a:t>projected</a:t>
            </a:r>
            <a:endParaRPr lang="en-US" sz="900" dirty="0"/>
          </a:p>
        </p:txBody>
      </p:sp>
      <p:sp>
        <p:nvSpPr>
          <p:cNvPr id="18" name="Shape 16"/>
          <p:cNvSpPr/>
          <p:nvPr/>
        </p:nvSpPr>
        <p:spPr>
          <a:xfrm>
            <a:off x="457200" y="2697480"/>
            <a:ext cx="3931920" cy="1051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Text 17"/>
          <p:cNvSpPr/>
          <p:nvPr/>
        </p:nvSpPr>
        <p:spPr>
          <a:xfrm>
            <a:off x="640080" y="2743200"/>
            <a:ext cx="3566160" cy="228600"/>
          </a:xfrm>
          <a:prstGeom prst="rect">
            <a:avLst/>
          </a:prstGeom>
          <a:noFill/>
          <a:ln/>
        </p:spPr>
        <p:txBody>
          <a:bodyPr wrap="square" rtlCol="0" anchor="ctr"/>
          <a:lstStyle/>
          <a:p>
            <a:pPr indent="0" marL="0">
              <a:buNone/>
            </a:pPr>
            <a:r>
              <a:rPr lang="en-US" sz="1100" b="1" dirty="0">
                <a:solidFill>
                  <a:srgbClr val="1E293B"/>
                </a:solidFill>
                <a:latin typeface="Georgia" pitchFamily="34" charset="0"/>
                <a:ea typeface="Georgia" pitchFamily="34" charset="-122"/>
                <a:cs typeface="Georgia" pitchFamily="34" charset="-120"/>
              </a:rPr>
              <a:t>The AI Stack</a:t>
            </a:r>
            <a:endParaRPr lang="en-US" sz="1100" dirty="0"/>
          </a:p>
        </p:txBody>
      </p:sp>
      <p:sp>
        <p:nvSpPr>
          <p:cNvPr id="20" name="Text 18"/>
          <p:cNvSpPr/>
          <p:nvPr/>
        </p:nvSpPr>
        <p:spPr>
          <a:xfrm>
            <a:off x="640080" y="2999232"/>
            <a:ext cx="3566160" cy="713232"/>
          </a:xfrm>
          <a:prstGeom prst="rect">
            <a:avLst/>
          </a:prstGeom>
          <a:noFill/>
          <a:ln/>
        </p:spPr>
        <p:txBody>
          <a:bodyPr wrap="square" rtlCol="0" anchor="ctr"/>
          <a:lstStyle/>
          <a:p>
            <a:pPr indent="0" marL="0">
              <a:buNone/>
            </a:pPr>
            <a:r>
              <a:rPr lang="en-US" sz="950" b="1" dirty="0">
                <a:solidFill>
                  <a:srgbClr val="374151"/>
                </a:solidFill>
                <a:latin typeface="Calibri" pitchFamily="34" charset="0"/>
                <a:ea typeface="Calibri" pitchFamily="34" charset="-122"/>
                <a:cs typeface="Calibri" pitchFamily="34" charset="-120"/>
              </a:rPr>
              <a:t>Code: </a:t>
            </a:r>
            <a:pPr indent="0" marL="0">
              <a:buNone/>
            </a:pPr>
            <a:r>
              <a:rPr lang="en-US" sz="950" dirty="0">
                <a:solidFill>
                  <a:srgbClr val="374151"/>
                </a:solidFill>
                <a:latin typeface="Calibri" pitchFamily="34" charset="0"/>
                <a:ea typeface="Calibri" pitchFamily="34" charset="-122"/>
                <a:cs typeface="Calibri" pitchFamily="34" charset="-120"/>
              </a:rPr>
              <a:t>ChatGPT, Claude, Grok</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Ads: </a:t>
            </a:r>
            <a:pPr indent="0" marL="0">
              <a:buNone/>
            </a:pPr>
            <a:r>
              <a:rPr lang="en-US" sz="950" dirty="0">
                <a:solidFill>
                  <a:srgbClr val="374151"/>
                </a:solidFill>
                <a:latin typeface="Calibri" pitchFamily="34" charset="0"/>
                <a:ea typeface="Calibri" pitchFamily="34" charset="-122"/>
                <a:cs typeface="Calibri" pitchFamily="34" charset="-120"/>
              </a:rPr>
              <a:t>Midjourney + Runway for images/video</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Support: </a:t>
            </a:r>
            <a:pPr indent="0" marL="0">
              <a:buNone/>
            </a:pPr>
            <a:r>
              <a:rPr lang="en-US" sz="950" dirty="0">
                <a:solidFill>
                  <a:srgbClr val="374151"/>
                </a:solidFill>
                <a:latin typeface="Calibri" pitchFamily="34" charset="0"/>
                <a:ea typeface="Calibri" pitchFamily="34" charset="-122"/>
                <a:cs typeface="Calibri" pitchFamily="34" charset="-120"/>
              </a:rPr>
              <a:t>ElevenLabs voice + custom AI agents</a:t>
            </a:r>
            <a:endParaRPr lang="en-US" sz="950" dirty="0"/>
          </a:p>
          <a:p>
            <a:pPr indent="0" marL="0">
              <a:buNone/>
            </a:pPr>
            <a:r>
              <a:rPr lang="en-US" sz="950" b="1" dirty="0">
                <a:solidFill>
                  <a:srgbClr val="374151"/>
                </a:solidFill>
                <a:latin typeface="Calibri" pitchFamily="34" charset="0"/>
                <a:ea typeface="Calibri" pitchFamily="34" charset="-122"/>
                <a:cs typeface="Calibri" pitchFamily="34" charset="-120"/>
              </a:rPr>
              <a:t>Ops: </a:t>
            </a:r>
            <a:pPr indent="0" marL="0">
              <a:buNone/>
            </a:pPr>
            <a:r>
              <a:rPr lang="en-US" sz="950" dirty="0">
                <a:solidFill>
                  <a:srgbClr val="374151"/>
                </a:solidFill>
                <a:latin typeface="Calibri" pitchFamily="34" charset="0"/>
                <a:ea typeface="Calibri" pitchFamily="34" charset="-122"/>
                <a:cs typeface="Calibri" pitchFamily="34" charset="-120"/>
              </a:rPr>
              <a:t>CareValidate + OpenLoop handle doctors, Rx, shipping</a:t>
            </a:r>
            <a:endParaRPr lang="en-US" sz="950" dirty="0"/>
          </a:p>
        </p:txBody>
      </p:sp>
      <p:sp>
        <p:nvSpPr>
          <p:cNvPr id="21" name="Shape 19"/>
          <p:cNvSpPr/>
          <p:nvPr/>
        </p:nvSpPr>
        <p:spPr>
          <a:xfrm>
            <a:off x="4754880" y="2697480"/>
            <a:ext cx="3931920" cy="10515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4754880" y="2697480"/>
            <a:ext cx="64008" cy="1051560"/>
          </a:xfrm>
          <a:prstGeom prst="rect">
            <a:avLst/>
          </a:prstGeom>
          <a:solidFill>
            <a:srgbClr val="E94560"/>
          </a:solidFill>
          <a:ln/>
        </p:spPr>
      </p:sp>
      <p:sp>
        <p:nvSpPr>
          <p:cNvPr id="23" name="Text 21"/>
          <p:cNvSpPr/>
          <p:nvPr/>
        </p:nvSpPr>
        <p:spPr>
          <a:xfrm>
            <a:off x="4983480" y="2743200"/>
            <a:ext cx="3474720" cy="228600"/>
          </a:xfrm>
          <a:prstGeom prst="rect">
            <a:avLst/>
          </a:prstGeom>
          <a:noFill/>
          <a:ln/>
        </p:spPr>
        <p:txBody>
          <a:bodyPr wrap="square" rtlCol="0" anchor="ctr"/>
          <a:lstStyle/>
          <a:p>
            <a:pPr indent="0" marL="0">
              <a:buNone/>
            </a:pPr>
            <a:r>
              <a:rPr lang="en-US" sz="1100" b="1" dirty="0">
                <a:solidFill>
                  <a:srgbClr val="E94560"/>
                </a:solidFill>
                <a:latin typeface="Georgia" pitchFamily="34" charset="0"/>
                <a:ea typeface="Georgia" pitchFamily="34" charset="-122"/>
                <a:cs typeface="Georgia" pitchFamily="34" charset="-120"/>
              </a:rPr>
              <a:t>The Verification Gap</a:t>
            </a:r>
            <a:endParaRPr lang="en-US" sz="1100" dirty="0"/>
          </a:p>
        </p:txBody>
      </p:sp>
      <p:sp>
        <p:nvSpPr>
          <p:cNvPr id="24" name="Text 22"/>
          <p:cNvSpPr/>
          <p:nvPr/>
        </p:nvSpPr>
        <p:spPr>
          <a:xfrm>
            <a:off x="4983480" y="2999232"/>
            <a:ext cx="3474720" cy="713232"/>
          </a:xfrm>
          <a:prstGeom prst="rect">
            <a:avLst/>
          </a:prstGeom>
          <a:noFill/>
          <a:ln/>
        </p:spPr>
        <p:txBody>
          <a:bodyPr wrap="square" rtlCol="0" anchor="ctr"/>
          <a:lstStyle/>
          <a:p>
            <a:pPr marL="342900" indent="-342900">
              <a:spcAft>
                <a:spcPts val="100"/>
              </a:spcAft>
              <a:buSzPct val="100000"/>
              <a:buChar char="•"/>
            </a:pPr>
            <a:r>
              <a:rPr lang="en-US" sz="950" dirty="0">
                <a:solidFill>
                  <a:srgbClr val="374151"/>
                </a:solidFill>
                <a:latin typeface="Calibri" pitchFamily="34" charset="0"/>
                <a:ea typeface="Calibri" pitchFamily="34" charset="-122"/>
                <a:cs typeface="Calibri" pitchFamily="34" charset="-120"/>
              </a:rPr>
              <a:t>Chatbot made up prices — Gallagher honored them</a:t>
            </a:r>
            <a:endParaRPr lang="en-US" sz="950" dirty="0"/>
          </a:p>
          <a:p>
            <a:pPr marL="342900" indent="-342900">
              <a:spcAft>
                <a:spcPts val="100"/>
              </a:spcAft>
              <a:buSzPct val="100000"/>
              <a:buChar char="•"/>
            </a:pPr>
            <a:r>
              <a:rPr lang="en-US" sz="950" dirty="0">
                <a:solidFill>
                  <a:srgbClr val="374151"/>
                </a:solidFill>
                <a:latin typeface="Calibri" pitchFamily="34" charset="0"/>
                <a:ea typeface="Calibri" pitchFamily="34" charset="-122"/>
                <a:cs typeface="Calibri" pitchFamily="34" charset="-120"/>
              </a:rPr>
              <a:t>1,000+ customer calls routed to his cell phone</a:t>
            </a:r>
            <a:endParaRPr lang="en-US" sz="950" dirty="0"/>
          </a:p>
          <a:p>
            <a:pPr marL="342900" indent="-342900">
              <a:spcAft>
                <a:spcPts val="100"/>
              </a:spcAft>
              <a:buSzPct val="100000"/>
              <a:buChar char="•"/>
            </a:pPr>
            <a:r>
              <a:rPr lang="en-US" sz="950" dirty="0">
                <a:solidFill>
                  <a:srgbClr val="374151"/>
                </a:solidFill>
                <a:latin typeface="Calibri" pitchFamily="34" charset="0"/>
                <a:ea typeface="Calibri" pitchFamily="34" charset="-122"/>
                <a:cs typeface="Calibri" pitchFamily="34" charset="-120"/>
              </a:rPr>
              <a:t>Hired 7 human account managers to build trust AI can’t</a:t>
            </a:r>
            <a:endParaRPr lang="en-US" sz="950" dirty="0"/>
          </a:p>
          <a:p>
            <a:pPr marL="342900" indent="-342900">
              <a:spcAft>
                <a:spcPts val="100"/>
              </a:spcAft>
              <a:buSzPct val="100000"/>
              <a:buChar char="•"/>
            </a:pPr>
            <a:r>
              <a:rPr lang="en-US" sz="950" dirty="0">
                <a:solidFill>
                  <a:srgbClr val="374151"/>
                </a:solidFill>
                <a:latin typeface="Calibri" pitchFamily="34" charset="0"/>
                <a:ea typeface="Calibri" pitchFamily="34" charset="-122"/>
                <a:cs typeface="Calibri" pitchFamily="34" charset="-120"/>
              </a:rPr>
              <a:t>vs. Hims &amp; Hers: 3x the margin with 1/1,000th the staff</a:t>
            </a:r>
            <a:endParaRPr lang="en-US" sz="950" dirty="0"/>
          </a:p>
        </p:txBody>
      </p:sp>
      <p:sp>
        <p:nvSpPr>
          <p:cNvPr id="25" name="Shape 23"/>
          <p:cNvSpPr/>
          <p:nvPr/>
        </p:nvSpPr>
        <p:spPr>
          <a:xfrm>
            <a:off x="457200" y="3931920"/>
            <a:ext cx="8229600" cy="73152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26" name="Text 24"/>
          <p:cNvSpPr/>
          <p:nvPr/>
        </p:nvSpPr>
        <p:spPr>
          <a:xfrm>
            <a:off x="731520" y="3977640"/>
            <a:ext cx="7680960" cy="640080"/>
          </a:xfrm>
          <a:prstGeom prst="rect">
            <a:avLst/>
          </a:prstGeom>
          <a:noFill/>
          <a:ln/>
        </p:spPr>
        <p:txBody>
          <a:bodyPr wrap="square" rtlCol="0" anchor="ctr"/>
          <a:lstStyle/>
          <a:p>
            <a:pPr indent="0" marL="0">
              <a:buNone/>
            </a:pPr>
            <a:r>
              <a:rPr lang="en-US" sz="1150" b="1" dirty="0">
                <a:solidFill>
                  <a:srgbClr val="F5A623"/>
                </a:solidFill>
                <a:latin typeface="Calibri" pitchFamily="34" charset="0"/>
                <a:ea typeface="Calibri" pitchFamily="34" charset="-122"/>
                <a:cs typeface="Calibri" pitchFamily="34" charset="-120"/>
              </a:rPr>
              <a:t>The question for educators: </a:t>
            </a:r>
            <a:pPr indent="0" marL="0">
              <a:buNone/>
            </a:pPr>
            <a:r>
              <a:rPr lang="en-US" sz="1150" dirty="0">
                <a:solidFill>
                  <a:srgbClr val="CBD5E1"/>
                </a:solidFill>
                <a:latin typeface="Calibri" pitchFamily="34" charset="0"/>
                <a:ea typeface="Calibri" pitchFamily="34" charset="-122"/>
                <a:cs typeface="Calibri" pitchFamily="34" charset="-120"/>
              </a:rPr>
              <a:t>AI made generation trivial. But Gallagher still needed human judgment to catch AI errors, human relationships for trust, and mechanism design to know what to outsource. Those are the scarce skills.</a:t>
            </a:r>
            <a:endParaRPr lang="en-US" sz="1150" dirty="0"/>
          </a:p>
        </p:txBody>
      </p:sp>
      <p:sp>
        <p:nvSpPr>
          <p:cNvPr id="27" name="Shape 25"/>
          <p:cNvSpPr/>
          <p:nvPr/>
        </p:nvSpPr>
        <p:spPr>
          <a:xfrm>
            <a:off x="0" y="4892040"/>
            <a:ext cx="9144000" cy="251460"/>
          </a:xfrm>
          <a:prstGeom prst="rect">
            <a:avLst/>
          </a:prstGeom>
          <a:solidFill>
            <a:srgbClr val="8C1515"/>
          </a:solidFill>
          <a:ln/>
        </p:spPr>
      </p:sp>
      <p:sp>
        <p:nvSpPr>
          <p:cNvPr id="29" name="Text 26"/>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In-Box Congestion Crisis</a:t>
            </a:r>
            <a:endParaRPr lang="en-US" sz="3000" dirty="0"/>
          </a:p>
        </p:txBody>
      </p:sp>
      <p:sp>
        <p:nvSpPr>
          <p:cNvPr id="3" name="Shape 1"/>
          <p:cNvSpPr/>
          <p:nvPr/>
        </p:nvSpPr>
        <p:spPr>
          <a:xfrm>
            <a:off x="457200" y="1097280"/>
            <a:ext cx="8229600" cy="1188720"/>
          </a:xfrm>
          <a:prstGeom prst="rect">
            <a:avLst/>
          </a:prstGeom>
          <a:solidFill>
            <a:srgbClr val="16213E"/>
          </a:solidFill>
          <a:ln/>
        </p:spPr>
      </p:sp>
      <p:sp>
        <p:nvSpPr>
          <p:cNvPr id="4" name="Text 2"/>
          <p:cNvSpPr/>
          <p:nvPr/>
        </p:nvSpPr>
        <p:spPr>
          <a:xfrm>
            <a:off x="640080" y="1143000"/>
            <a:ext cx="7863840" cy="365760"/>
          </a:xfrm>
          <a:prstGeom prst="rect">
            <a:avLst/>
          </a:prstGeom>
          <a:noFill/>
          <a:ln/>
        </p:spPr>
        <p:txBody>
          <a:bodyPr wrap="square" rtlCol="0" anchor="ctr"/>
          <a:lstStyle/>
          <a:p>
            <a:pPr indent="0" marL="0">
              <a:buNone/>
            </a:pPr>
            <a:r>
              <a:rPr lang="en-US" sz="1600" b="1" dirty="0">
                <a:solidFill>
                  <a:srgbClr val="E94560"/>
                </a:solidFill>
                <a:latin typeface="Georgia" pitchFamily="34" charset="0"/>
                <a:ea typeface="Georgia" pitchFamily="34" charset="-122"/>
                <a:cs typeface="Georgia" pitchFamily="34" charset="-120"/>
              </a:rPr>
              <a:t>We're teaching the wrong lesson about AI in entrepreneurship</a:t>
            </a:r>
            <a:endParaRPr lang="en-US" sz="1600" dirty="0"/>
          </a:p>
        </p:txBody>
      </p:sp>
      <p:sp>
        <p:nvSpPr>
          <p:cNvPr id="5" name="Text 3"/>
          <p:cNvSpPr/>
          <p:nvPr/>
        </p:nvSpPr>
        <p:spPr>
          <a:xfrm>
            <a:off x="640080" y="1554480"/>
            <a:ext cx="7863840" cy="64008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Generate a slide deck. Generate a business model. Generate 1,000 bespoke cold DMs. When the marginal cost of personalized outreach drops to zero, its value drops to zero. We've turned the ecosystem into a high-speed noise machine.</a:t>
            </a:r>
            <a:endParaRPr lang="en-US" sz="1200" dirty="0"/>
          </a:p>
        </p:txBody>
      </p:sp>
      <p:sp>
        <p:nvSpPr>
          <p:cNvPr id="6" name="Shape 4"/>
          <p:cNvSpPr/>
          <p:nvPr/>
        </p:nvSpPr>
        <p:spPr>
          <a:xfrm>
            <a:off x="457200" y="2560320"/>
            <a:ext cx="2651760" cy="201168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7" name="Text 5"/>
          <p:cNvSpPr/>
          <p:nvPr/>
        </p:nvSpPr>
        <p:spPr>
          <a:xfrm>
            <a:off x="457200" y="2651760"/>
            <a:ext cx="2651760" cy="365760"/>
          </a:xfrm>
          <a:prstGeom prst="rect">
            <a:avLst/>
          </a:prstGeom>
          <a:noFill/>
          <a:ln/>
        </p:spPr>
        <p:txBody>
          <a:bodyPr wrap="square" rtlCol="0" anchor="ctr"/>
          <a:lstStyle/>
          <a:p>
            <a:pPr algn="ctr" indent="0" marL="0">
              <a:buNone/>
            </a:pPr>
            <a:r>
              <a:rPr lang="en-US" sz="1300" b="1" dirty="0">
                <a:solidFill>
                  <a:srgbClr val="F5A623"/>
                </a:solidFill>
                <a:latin typeface="Georgia" pitchFamily="34" charset="0"/>
                <a:ea typeface="Georgia" pitchFamily="34" charset="-122"/>
                <a:cs typeface="Georgia" pitchFamily="34" charset="-120"/>
              </a:rPr>
              <a:t>Lean Startup</a:t>
            </a:r>
            <a:endParaRPr lang="en-US" sz="1300" dirty="0"/>
          </a:p>
        </p:txBody>
      </p:sp>
      <p:sp>
        <p:nvSpPr>
          <p:cNvPr id="8" name="Text 6"/>
          <p:cNvSpPr/>
          <p:nvPr/>
        </p:nvSpPr>
        <p:spPr>
          <a:xfrm>
            <a:off x="457200" y="2971800"/>
            <a:ext cx="26517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Blank</a:t>
            </a:r>
            <a:endParaRPr lang="en-US" sz="1000" dirty="0"/>
          </a:p>
        </p:txBody>
      </p:sp>
      <p:sp>
        <p:nvSpPr>
          <p:cNvPr id="9" name="Text 7"/>
          <p:cNvSpPr/>
          <p:nvPr/>
        </p:nvSpPr>
        <p:spPr>
          <a:xfrm>
            <a:off x="640080" y="3246120"/>
            <a:ext cx="2286000" cy="64008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Replace assertion</a:t>
            </a:r>
            <a:endParaRPr lang="en-US" sz="1200" dirty="0"/>
          </a:p>
          <a:p>
            <a:pPr algn="ctr" indent="0" marL="0">
              <a:buNone/>
            </a:pPr>
            <a:r>
              <a:rPr lang="en-US" sz="1200" dirty="0">
                <a:solidFill>
                  <a:srgbClr val="CBD5E1"/>
                </a:solidFill>
                <a:latin typeface="Calibri" pitchFamily="34" charset="0"/>
                <a:ea typeface="Calibri" pitchFamily="34" charset="-122"/>
                <a:cs typeface="Calibri" pitchFamily="34" charset="-120"/>
              </a:rPr>
              <a:t>with evidence</a:t>
            </a:r>
            <a:endParaRPr lang="en-US" sz="1200" dirty="0"/>
          </a:p>
        </p:txBody>
      </p:sp>
      <p:sp>
        <p:nvSpPr>
          <p:cNvPr id="10" name="Text 8"/>
          <p:cNvSpPr/>
          <p:nvPr/>
        </p:nvSpPr>
        <p:spPr>
          <a:xfrm>
            <a:off x="640080" y="3886200"/>
            <a:ext cx="2286000" cy="548640"/>
          </a:xfrm>
          <a:prstGeom prst="rect">
            <a:avLst/>
          </a:prstGeom>
          <a:noFill/>
          <a:ln/>
        </p:spPr>
        <p:txBody>
          <a:bodyPr wrap="square" rtlCol="0" anchor="ctr"/>
          <a:lstStyle/>
          <a:p>
            <a:pPr algn="ctr" indent="0" marL="0">
              <a:buNone/>
            </a:pPr>
            <a:r>
              <a:rPr lang="en-US" sz="1100" i="1" dirty="0">
                <a:solidFill>
                  <a:srgbClr val="0F969C"/>
                </a:solidFill>
                <a:latin typeface="Calibri" pitchFamily="34" charset="0"/>
                <a:ea typeface="Calibri" pitchFamily="34" charset="-122"/>
                <a:cs typeface="Calibri" pitchFamily="34" charset="-120"/>
              </a:rPr>
              <a:t>Get out of</a:t>
            </a:r>
            <a:endParaRPr lang="en-US" sz="1100" dirty="0"/>
          </a:p>
          <a:p>
            <a:pPr algn="ctr" indent="0" marL="0">
              <a:buNone/>
            </a:pPr>
            <a:r>
              <a:rPr lang="en-US" sz="1100" i="1" dirty="0">
                <a:solidFill>
                  <a:srgbClr val="0F969C"/>
                </a:solidFill>
                <a:latin typeface="Calibri" pitchFamily="34" charset="0"/>
                <a:ea typeface="Calibri" pitchFamily="34" charset="-122"/>
                <a:cs typeface="Calibri" pitchFamily="34" charset="-120"/>
              </a:rPr>
              <a:t>the building</a:t>
            </a:r>
            <a:endParaRPr lang="en-US" sz="1100" dirty="0"/>
          </a:p>
        </p:txBody>
      </p:sp>
      <p:sp>
        <p:nvSpPr>
          <p:cNvPr id="11" name="Text 9"/>
          <p:cNvSpPr/>
          <p:nvPr/>
        </p:nvSpPr>
        <p:spPr>
          <a:xfrm>
            <a:off x="3108960" y="3200400"/>
            <a:ext cx="274320" cy="548640"/>
          </a:xfrm>
          <a:prstGeom prst="rect">
            <a:avLst/>
          </a:prstGeom>
          <a:noFill/>
          <a:ln/>
        </p:spPr>
        <p:txBody>
          <a:bodyPr wrap="square" rtlCol="0" anchor="ctr"/>
          <a:lstStyle/>
          <a:p>
            <a:pPr algn="ctr" indent="0" marL="0">
              <a:buNone/>
            </a:pPr>
            <a:r>
              <a:rPr lang="en-US" sz="2200" dirty="0">
                <a:solidFill>
                  <a:srgbClr val="F5A623"/>
                </a:solidFill>
              </a:rPr>
              <a:t>→</a:t>
            </a:r>
            <a:endParaRPr lang="en-US" sz="2200" dirty="0"/>
          </a:p>
        </p:txBody>
      </p:sp>
      <p:sp>
        <p:nvSpPr>
          <p:cNvPr id="12" name="Shape 10"/>
          <p:cNvSpPr/>
          <p:nvPr/>
        </p:nvSpPr>
        <p:spPr>
          <a:xfrm>
            <a:off x="3383280" y="2560320"/>
            <a:ext cx="2651760" cy="201168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13" name="Text 11"/>
          <p:cNvSpPr/>
          <p:nvPr/>
        </p:nvSpPr>
        <p:spPr>
          <a:xfrm>
            <a:off x="3383280" y="2651760"/>
            <a:ext cx="2651760" cy="365760"/>
          </a:xfrm>
          <a:prstGeom prst="rect">
            <a:avLst/>
          </a:prstGeom>
          <a:noFill/>
          <a:ln/>
        </p:spPr>
        <p:txBody>
          <a:bodyPr wrap="square" rtlCol="0" anchor="ctr"/>
          <a:lstStyle/>
          <a:p>
            <a:pPr algn="ctr" indent="0" marL="0">
              <a:buNone/>
            </a:pPr>
            <a:r>
              <a:rPr lang="en-US" sz="1300" b="1" dirty="0">
                <a:solidFill>
                  <a:srgbClr val="F5A623"/>
                </a:solidFill>
                <a:latin typeface="Georgia" pitchFamily="34" charset="0"/>
                <a:ea typeface="Georgia" pitchFamily="34" charset="-122"/>
                <a:cs typeface="Georgia" pitchFamily="34" charset="-120"/>
              </a:rPr>
              <a:t>Disciplined E'ship</a:t>
            </a:r>
            <a:endParaRPr lang="en-US" sz="1300" dirty="0"/>
          </a:p>
        </p:txBody>
      </p:sp>
      <p:sp>
        <p:nvSpPr>
          <p:cNvPr id="14" name="Text 12"/>
          <p:cNvSpPr/>
          <p:nvPr/>
        </p:nvSpPr>
        <p:spPr>
          <a:xfrm>
            <a:off x="3383280" y="2971800"/>
            <a:ext cx="26517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Aulet / JetPack</a:t>
            </a:r>
            <a:endParaRPr lang="en-US" sz="1000" dirty="0"/>
          </a:p>
        </p:txBody>
      </p:sp>
      <p:sp>
        <p:nvSpPr>
          <p:cNvPr id="15" name="Text 13"/>
          <p:cNvSpPr/>
          <p:nvPr/>
        </p:nvSpPr>
        <p:spPr>
          <a:xfrm>
            <a:off x="3566160" y="3246120"/>
            <a:ext cx="2286000" cy="64008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Accelerate evidence</a:t>
            </a:r>
            <a:endParaRPr lang="en-US" sz="1200" dirty="0"/>
          </a:p>
          <a:p>
            <a:pPr algn="ctr" indent="0" marL="0">
              <a:buNone/>
            </a:pPr>
            <a:r>
              <a:rPr lang="en-US" sz="1200" dirty="0">
                <a:solidFill>
                  <a:srgbClr val="CBD5E1"/>
                </a:solidFill>
                <a:latin typeface="Calibri" pitchFamily="34" charset="0"/>
                <a:ea typeface="Calibri" pitchFamily="34" charset="-122"/>
                <a:cs typeface="Calibri" pitchFamily="34" charset="-120"/>
              </a:rPr>
              <a:t>gathering with AI</a:t>
            </a:r>
            <a:endParaRPr lang="en-US" sz="1200" dirty="0"/>
          </a:p>
        </p:txBody>
      </p:sp>
      <p:sp>
        <p:nvSpPr>
          <p:cNvPr id="16" name="Text 14"/>
          <p:cNvSpPr/>
          <p:nvPr/>
        </p:nvSpPr>
        <p:spPr>
          <a:xfrm>
            <a:off x="3566160" y="3886200"/>
            <a:ext cx="2286000" cy="548640"/>
          </a:xfrm>
          <a:prstGeom prst="rect">
            <a:avLst/>
          </a:prstGeom>
          <a:noFill/>
          <a:ln/>
        </p:spPr>
        <p:txBody>
          <a:bodyPr wrap="square" rtlCol="0" anchor="ctr"/>
          <a:lstStyle/>
          <a:p>
            <a:pPr algn="ctr" indent="0" marL="0">
              <a:buNone/>
            </a:pPr>
            <a:r>
              <a:rPr lang="en-US" sz="1100" i="1" dirty="0">
                <a:solidFill>
                  <a:srgbClr val="0F969C"/>
                </a:solidFill>
                <a:latin typeface="Calibri" pitchFamily="34" charset="0"/>
                <a:ea typeface="Calibri" pitchFamily="34" charset="-122"/>
                <a:cs typeface="Calibri" pitchFamily="34" charset="-120"/>
              </a:rPr>
              <a:t>Move faster</a:t>
            </a:r>
            <a:endParaRPr lang="en-US" sz="1100" dirty="0"/>
          </a:p>
          <a:p>
            <a:pPr algn="ctr" indent="0" marL="0">
              <a:buNone/>
            </a:pPr>
            <a:r>
              <a:rPr lang="en-US" sz="1100" i="1" dirty="0">
                <a:solidFill>
                  <a:srgbClr val="0F969C"/>
                </a:solidFill>
                <a:latin typeface="Calibri" pitchFamily="34" charset="0"/>
                <a:ea typeface="Calibri" pitchFamily="34" charset="-122"/>
                <a:cs typeface="Calibri" pitchFamily="34" charset="-120"/>
              </a:rPr>
              <a:t>through the steps</a:t>
            </a:r>
            <a:endParaRPr lang="en-US" sz="1100" dirty="0"/>
          </a:p>
        </p:txBody>
      </p:sp>
      <p:sp>
        <p:nvSpPr>
          <p:cNvPr id="17" name="Text 15"/>
          <p:cNvSpPr/>
          <p:nvPr/>
        </p:nvSpPr>
        <p:spPr>
          <a:xfrm>
            <a:off x="6035040" y="3200400"/>
            <a:ext cx="274320" cy="548640"/>
          </a:xfrm>
          <a:prstGeom prst="rect">
            <a:avLst/>
          </a:prstGeom>
          <a:noFill/>
          <a:ln/>
        </p:spPr>
        <p:txBody>
          <a:bodyPr wrap="square" rtlCol="0" anchor="ctr"/>
          <a:lstStyle/>
          <a:p>
            <a:pPr algn="ctr" indent="0" marL="0">
              <a:buNone/>
            </a:pPr>
            <a:r>
              <a:rPr lang="en-US" sz="2200" dirty="0">
                <a:solidFill>
                  <a:srgbClr val="F5A623"/>
                </a:solidFill>
              </a:rPr>
              <a:t>→</a:t>
            </a:r>
            <a:endParaRPr lang="en-US" sz="2200" dirty="0"/>
          </a:p>
        </p:txBody>
      </p:sp>
      <p:sp>
        <p:nvSpPr>
          <p:cNvPr id="18" name="Shape 16"/>
          <p:cNvSpPr/>
          <p:nvPr/>
        </p:nvSpPr>
        <p:spPr>
          <a:xfrm>
            <a:off x="6309360" y="2560320"/>
            <a:ext cx="2651760" cy="201168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19" name="Shape 17"/>
          <p:cNvSpPr/>
          <p:nvPr/>
        </p:nvSpPr>
        <p:spPr>
          <a:xfrm>
            <a:off x="6309360" y="2560320"/>
            <a:ext cx="2651760" cy="64008"/>
          </a:xfrm>
          <a:prstGeom prst="rect">
            <a:avLst/>
          </a:prstGeom>
          <a:solidFill>
            <a:srgbClr val="8C1515"/>
          </a:solidFill>
          <a:ln/>
        </p:spPr>
      </p:sp>
      <p:sp>
        <p:nvSpPr>
          <p:cNvPr id="20" name="Text 18"/>
          <p:cNvSpPr/>
          <p:nvPr/>
        </p:nvSpPr>
        <p:spPr>
          <a:xfrm>
            <a:off x="6309360" y="2651760"/>
            <a:ext cx="2651760" cy="365760"/>
          </a:xfrm>
          <a:prstGeom prst="rect">
            <a:avLst/>
          </a:prstGeom>
          <a:noFill/>
          <a:ln/>
        </p:spPr>
        <p:txBody>
          <a:bodyPr wrap="square" rtlCol="0" anchor="ctr"/>
          <a:lstStyle/>
          <a:p>
            <a:pPr algn="ctr" indent="0" marL="0">
              <a:buNone/>
            </a:pPr>
            <a:r>
              <a:rPr lang="en-US" sz="1300" b="1" dirty="0">
                <a:solidFill>
                  <a:srgbClr val="E94560"/>
                </a:solidFill>
                <a:latin typeface="Georgia" pitchFamily="34" charset="0"/>
                <a:ea typeface="Georgia" pitchFamily="34" charset="-122"/>
                <a:cs typeface="Georgia" pitchFamily="34" charset="-120"/>
              </a:rPr>
              <a:t>The Next Step</a:t>
            </a:r>
            <a:endParaRPr lang="en-US" sz="1300" dirty="0"/>
          </a:p>
        </p:txBody>
      </p:sp>
      <p:sp>
        <p:nvSpPr>
          <p:cNvPr id="21" name="Text 19"/>
          <p:cNvSpPr/>
          <p:nvPr/>
        </p:nvSpPr>
        <p:spPr>
          <a:xfrm>
            <a:off x="6309360" y="2971800"/>
            <a:ext cx="26517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Mechanism Design</a:t>
            </a:r>
            <a:endParaRPr lang="en-US" sz="1000" dirty="0"/>
          </a:p>
        </p:txBody>
      </p:sp>
      <p:sp>
        <p:nvSpPr>
          <p:cNvPr id="22" name="Text 20"/>
          <p:cNvSpPr/>
          <p:nvPr/>
        </p:nvSpPr>
        <p:spPr>
          <a:xfrm>
            <a:off x="6492240" y="3246120"/>
            <a:ext cx="2286000" cy="64008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Make evidence</a:t>
            </a:r>
            <a:endParaRPr lang="en-US" sz="1200" dirty="0"/>
          </a:p>
          <a:p>
            <a:pPr algn="ctr" indent="0" marL="0">
              <a:buNone/>
            </a:pPr>
            <a:r>
              <a:rPr lang="en-US" sz="1200" dirty="0">
                <a:solidFill>
                  <a:srgbClr val="CBD5E1"/>
                </a:solidFill>
                <a:latin typeface="Calibri" pitchFamily="34" charset="0"/>
                <a:ea typeface="Calibri" pitchFamily="34" charset="-122"/>
                <a:cs typeface="Calibri" pitchFamily="34" charset="-120"/>
              </a:rPr>
              <a:t>harder to manufacture</a:t>
            </a:r>
            <a:endParaRPr lang="en-US" sz="1200" dirty="0"/>
          </a:p>
        </p:txBody>
      </p:sp>
      <p:sp>
        <p:nvSpPr>
          <p:cNvPr id="23" name="Text 21"/>
          <p:cNvSpPr/>
          <p:nvPr/>
        </p:nvSpPr>
        <p:spPr>
          <a:xfrm>
            <a:off x="6492240" y="3886200"/>
            <a:ext cx="2286000" cy="548640"/>
          </a:xfrm>
          <a:prstGeom prst="rect">
            <a:avLst/>
          </a:prstGeom>
          <a:noFill/>
          <a:ln/>
        </p:spPr>
        <p:txBody>
          <a:bodyPr wrap="square" rtlCol="0" anchor="ctr"/>
          <a:lstStyle/>
          <a:p>
            <a:pPr algn="ctr" indent="0" marL="0">
              <a:buNone/>
            </a:pPr>
            <a:r>
              <a:rPr lang="en-US" sz="1100" i="1" dirty="0">
                <a:solidFill>
                  <a:srgbClr val="0F969C"/>
                </a:solidFill>
                <a:latin typeface="Calibri" pitchFamily="34" charset="0"/>
                <a:ea typeface="Calibri" pitchFamily="34" charset="-122"/>
                <a:cs typeface="Calibri" pitchFamily="34" charset="-120"/>
              </a:rPr>
              <a:t>AI as verifier,</a:t>
            </a:r>
            <a:endParaRPr lang="en-US" sz="1100" dirty="0"/>
          </a:p>
          <a:p>
            <a:pPr algn="ctr" indent="0" marL="0">
              <a:buNone/>
            </a:pPr>
            <a:r>
              <a:rPr lang="en-US" sz="1100" i="1" dirty="0">
                <a:solidFill>
                  <a:srgbClr val="0F969C"/>
                </a:solidFill>
                <a:latin typeface="Calibri" pitchFamily="34" charset="0"/>
                <a:ea typeface="Calibri" pitchFamily="34" charset="-122"/>
                <a:cs typeface="Calibri" pitchFamily="34" charset="-120"/>
              </a:rPr>
              <a:t>not generator</a:t>
            </a:r>
            <a:endParaRPr lang="en-US" sz="1100" dirty="0"/>
          </a:p>
        </p:txBody>
      </p:sp>
      <p:sp>
        <p:nvSpPr>
          <p:cNvPr id="24" name="Shape 22"/>
          <p:cNvSpPr/>
          <p:nvPr/>
        </p:nvSpPr>
        <p:spPr>
          <a:xfrm>
            <a:off x="0" y="4892040"/>
            <a:ext cx="9144000" cy="251460"/>
          </a:xfrm>
          <a:prstGeom prst="rect">
            <a:avLst/>
          </a:prstGeom>
          <a:solidFill>
            <a:srgbClr val="8C1515"/>
          </a:solidFill>
          <a:ln/>
        </p:spPr>
      </p:sp>
      <p:sp>
        <p:nvSpPr>
          <p:cNvPr id="26" name="Text 23"/>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Why "Cheap Talk" Is the Core Problem</a:t>
            </a:r>
            <a:endParaRPr lang="en-US" sz="3000" dirty="0"/>
          </a:p>
        </p:txBody>
      </p:sp>
      <p:sp>
        <p:nvSpPr>
          <p:cNvPr id="3" name="Shape 1"/>
          <p:cNvSpPr/>
          <p:nvPr/>
        </p:nvSpPr>
        <p:spPr>
          <a:xfrm>
            <a:off x="457200" y="1097280"/>
            <a:ext cx="8229600" cy="1188720"/>
          </a:xfrm>
          <a:prstGeom prst="rect">
            <a:avLst/>
          </a:prstGeom>
          <a:solidFill>
            <a:srgbClr val="16213E"/>
          </a:solidFill>
          <a:ln/>
          <a:effectLst>
            <a:outerShdw sx="100000" sy="100000" kx="0" ky="0" algn="bl" rotWithShape="0" blurRad="101600" dist="38100" dir="8100000">
              <a:srgbClr val="000000">
                <a:alpha val="12000"/>
              </a:srgbClr>
            </a:outerShdw>
          </a:effectLst>
        </p:spPr>
      </p:sp>
      <p:sp>
        <p:nvSpPr>
          <p:cNvPr id="4" name="Text 2"/>
          <p:cNvSpPr/>
          <p:nvPr/>
        </p:nvSpPr>
        <p:spPr>
          <a:xfrm>
            <a:off x="731520" y="1188720"/>
            <a:ext cx="3657600" cy="3200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Spence’s Signaling Insight</a:t>
            </a:r>
            <a:endParaRPr lang="en-US" sz="1500" dirty="0"/>
          </a:p>
        </p:txBody>
      </p:sp>
      <p:sp>
        <p:nvSpPr>
          <p:cNvPr id="5" name="Text 3"/>
          <p:cNvSpPr/>
          <p:nvPr/>
        </p:nvSpPr>
        <p:spPr>
          <a:xfrm>
            <a:off x="731520" y="1554480"/>
            <a:ext cx="7680960" cy="64008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 signal is only credible if it is costly to fake. Almost everything we teach founders to produce — the pitch, the persona, the discovery summary, the MVP demo — has become cheap talk. Not because founders are dishonest, but because AI has exposed the flaw at scale.</a:t>
            </a:r>
            <a:endParaRPr lang="en-US" sz="1200" dirty="0"/>
          </a:p>
        </p:txBody>
      </p:sp>
      <p:sp>
        <p:nvSpPr>
          <p:cNvPr id="6" name="Shape 4"/>
          <p:cNvSpPr/>
          <p:nvPr/>
        </p:nvSpPr>
        <p:spPr>
          <a:xfrm>
            <a:off x="457200" y="2560320"/>
            <a:ext cx="393192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5"/>
          <p:cNvSpPr/>
          <p:nvPr/>
        </p:nvSpPr>
        <p:spPr>
          <a:xfrm>
            <a:off x="640080" y="2651760"/>
            <a:ext cx="3566160" cy="365760"/>
          </a:xfrm>
          <a:prstGeom prst="rect">
            <a:avLst/>
          </a:prstGeom>
          <a:noFill/>
          <a:ln/>
        </p:spPr>
        <p:txBody>
          <a:bodyPr wrap="square" rtlCol="0" anchor="ctr"/>
          <a:lstStyle/>
          <a:p>
            <a:pPr indent="0" marL="0">
              <a:buNone/>
            </a:pPr>
            <a:r>
              <a:rPr lang="en-US" sz="1400" b="1" dirty="0">
                <a:solidFill>
                  <a:srgbClr val="374151"/>
                </a:solidFill>
                <a:latin typeface="Georgia" pitchFamily="34" charset="0"/>
                <a:ea typeface="Georgia" pitchFamily="34" charset="-122"/>
                <a:cs typeface="Georgia" pitchFamily="34" charset="-120"/>
              </a:rPr>
              <a:t>Before AI</a:t>
            </a:r>
            <a:endParaRPr lang="en-US" sz="1400" dirty="0"/>
          </a:p>
        </p:txBody>
      </p:sp>
      <p:sp>
        <p:nvSpPr>
          <p:cNvPr id="8" name="Text 6"/>
          <p:cNvSpPr/>
          <p:nvPr/>
        </p:nvSpPr>
        <p:spPr>
          <a:xfrm>
            <a:off x="640080" y="3017520"/>
            <a:ext cx="3566160" cy="118872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Motivated reasoning was human-scale. A founder does 15 interviews, gets ambiguous signals, and reports "strong early validation." Confirmation bias, but bounded.</a:t>
            </a:r>
            <a:endParaRPr lang="en-US" sz="1150" dirty="0"/>
          </a:p>
        </p:txBody>
      </p:sp>
      <p:sp>
        <p:nvSpPr>
          <p:cNvPr id="9" name="Shape 7"/>
          <p:cNvSpPr/>
          <p:nvPr/>
        </p:nvSpPr>
        <p:spPr>
          <a:xfrm>
            <a:off x="4754880" y="2560320"/>
            <a:ext cx="393192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4754880" y="2560320"/>
            <a:ext cx="73152" cy="1828800"/>
          </a:xfrm>
          <a:prstGeom prst="rect">
            <a:avLst/>
          </a:prstGeom>
          <a:solidFill>
            <a:srgbClr val="E94560"/>
          </a:solidFill>
          <a:ln/>
        </p:spPr>
      </p:sp>
      <p:sp>
        <p:nvSpPr>
          <p:cNvPr id="11" name="Text 9"/>
          <p:cNvSpPr/>
          <p:nvPr/>
        </p:nvSpPr>
        <p:spPr>
          <a:xfrm>
            <a:off x="5029200" y="2651760"/>
            <a:ext cx="3383280" cy="365760"/>
          </a:xfrm>
          <a:prstGeom prst="rect">
            <a:avLst/>
          </a:prstGeom>
          <a:noFill/>
          <a:ln/>
        </p:spPr>
        <p:txBody>
          <a:bodyPr wrap="square" rtlCol="0" anchor="ctr"/>
          <a:lstStyle/>
          <a:p>
            <a:pPr indent="0" marL="0">
              <a:buNone/>
            </a:pPr>
            <a:r>
              <a:rPr lang="en-US" sz="1400" b="1" dirty="0">
                <a:solidFill>
                  <a:srgbClr val="E94560"/>
                </a:solidFill>
                <a:latin typeface="Georgia" pitchFamily="34" charset="0"/>
                <a:ea typeface="Georgia" pitchFamily="34" charset="-122"/>
                <a:cs typeface="Georgia" pitchFamily="34" charset="-120"/>
              </a:rPr>
              <a:t>After AI</a:t>
            </a:r>
            <a:endParaRPr lang="en-US" sz="1400" dirty="0"/>
          </a:p>
        </p:txBody>
      </p:sp>
      <p:sp>
        <p:nvSpPr>
          <p:cNvPr id="12" name="Text 10"/>
          <p:cNvSpPr/>
          <p:nvPr/>
        </p:nvSpPr>
        <p:spPr>
          <a:xfrm>
            <a:off x="5029200" y="3017520"/>
            <a:ext cx="3383280" cy="118872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Agentic AI industrializes motivated reasoning. The synthesis is cleaner, the narrative more coherent, and the gap between what customers said and what the deck concludes has never been easier to paper over — without any intent to deceive.</a:t>
            </a:r>
            <a:endParaRPr lang="en-US" sz="1150" dirty="0"/>
          </a:p>
        </p:txBody>
      </p:sp>
      <p:sp>
        <p:nvSpPr>
          <p:cNvPr id="13" name="Shape 11"/>
          <p:cNvSpPr/>
          <p:nvPr/>
        </p:nvSpPr>
        <p:spPr>
          <a:xfrm>
            <a:off x="0" y="4892040"/>
            <a:ext cx="9144000" cy="251460"/>
          </a:xfrm>
          <a:prstGeom prst="rect">
            <a:avLst/>
          </a:prstGeom>
          <a:solidFill>
            <a:srgbClr val="8C1515"/>
          </a:solidFill>
          <a:ln/>
        </p:spPr>
      </p:sp>
      <p:sp>
        <p:nvSpPr>
          <p:cNvPr id="15" name="Text 12"/>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What We Teach Instead</a:t>
            </a:r>
            <a:endParaRPr lang="en-US" sz="3000" dirty="0"/>
          </a:p>
        </p:txBody>
      </p:sp>
      <p:sp>
        <p:nvSpPr>
          <p:cNvPr id="3" name="Shape 1"/>
          <p:cNvSpPr/>
          <p:nvPr/>
        </p:nvSpPr>
        <p:spPr>
          <a:xfrm>
            <a:off x="457200" y="960120"/>
            <a:ext cx="82296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640080" y="1097280"/>
            <a:ext cx="548640" cy="548640"/>
          </a:xfrm>
          <a:prstGeom prst="ellipse">
            <a:avLst/>
          </a:prstGeom>
          <a:solidFill>
            <a:srgbClr val="16213E"/>
          </a:solidFill>
          <a:ln/>
        </p:spPr>
      </p:sp>
      <p:sp>
        <p:nvSpPr>
          <p:cNvPr id="5" name="Text 3"/>
          <p:cNvSpPr/>
          <p:nvPr/>
        </p:nvSpPr>
        <p:spPr>
          <a:xfrm>
            <a:off x="640080" y="1097280"/>
            <a:ext cx="548640" cy="5486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6" name="Text 4"/>
          <p:cNvSpPr/>
          <p:nvPr/>
        </p:nvSpPr>
        <p:spPr>
          <a:xfrm>
            <a:off x="1371600" y="1005840"/>
            <a:ext cx="2743200" cy="32004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Costly Signal Design</a:t>
            </a:r>
            <a:endParaRPr lang="en-US" sz="1400" dirty="0"/>
          </a:p>
        </p:txBody>
      </p:sp>
      <p:sp>
        <p:nvSpPr>
          <p:cNvPr id="7" name="Text 5"/>
          <p:cNvSpPr/>
          <p:nvPr/>
        </p:nvSpPr>
        <p:spPr>
          <a:xfrm>
            <a:off x="1371600" y="1307592"/>
            <a:ext cx="7040880"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Teach founders to build validation around evidence that's hard to fake: signed LOIs, reallocated budgets, co-development agreements requiring real commitment.</a:t>
            </a:r>
            <a:endParaRPr lang="en-US" sz="1100" dirty="0"/>
          </a:p>
        </p:txBody>
      </p:sp>
      <p:sp>
        <p:nvSpPr>
          <p:cNvPr id="8" name="Shape 6"/>
          <p:cNvSpPr/>
          <p:nvPr/>
        </p:nvSpPr>
        <p:spPr>
          <a:xfrm>
            <a:off x="457200" y="1920240"/>
            <a:ext cx="82296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640080" y="2057400"/>
            <a:ext cx="548640" cy="548640"/>
          </a:xfrm>
          <a:prstGeom prst="ellipse">
            <a:avLst/>
          </a:prstGeom>
          <a:solidFill>
            <a:srgbClr val="16213E"/>
          </a:solidFill>
          <a:ln/>
        </p:spPr>
      </p:sp>
      <p:sp>
        <p:nvSpPr>
          <p:cNvPr id="10" name="Text 8"/>
          <p:cNvSpPr/>
          <p:nvPr/>
        </p:nvSpPr>
        <p:spPr>
          <a:xfrm>
            <a:off x="640080" y="2057400"/>
            <a:ext cx="548640" cy="5486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1" name="Text 9"/>
          <p:cNvSpPr/>
          <p:nvPr/>
        </p:nvSpPr>
        <p:spPr>
          <a:xfrm>
            <a:off x="1371600" y="1965960"/>
            <a:ext cx="2743200" cy="32004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Separate Synthesis from Evidence</a:t>
            </a:r>
            <a:endParaRPr lang="en-US" sz="1400" dirty="0"/>
          </a:p>
        </p:txBody>
      </p:sp>
      <p:sp>
        <p:nvSpPr>
          <p:cNvPr id="12" name="Text 10"/>
          <p:cNvSpPr/>
          <p:nvPr/>
        </p:nvSpPr>
        <p:spPr>
          <a:xfrm>
            <a:off x="1371600" y="2267712"/>
            <a:ext cx="7040880"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Present raw data separately from interpretation. Use AI as an auditor that surfaces contradictions, not a synthesizer that smooths them over.</a:t>
            </a:r>
            <a:endParaRPr lang="en-US" sz="1100" dirty="0"/>
          </a:p>
        </p:txBody>
      </p:sp>
      <p:sp>
        <p:nvSpPr>
          <p:cNvPr id="13" name="Shape 11"/>
          <p:cNvSpPr/>
          <p:nvPr/>
        </p:nvSpPr>
        <p:spPr>
          <a:xfrm>
            <a:off x="457200" y="2880360"/>
            <a:ext cx="82296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640080" y="3017520"/>
            <a:ext cx="548640" cy="548640"/>
          </a:xfrm>
          <a:prstGeom prst="ellipse">
            <a:avLst/>
          </a:prstGeom>
          <a:solidFill>
            <a:srgbClr val="16213E"/>
          </a:solidFill>
          <a:ln/>
        </p:spPr>
      </p:sp>
      <p:sp>
        <p:nvSpPr>
          <p:cNvPr id="15" name="Text 13"/>
          <p:cNvSpPr/>
          <p:nvPr/>
        </p:nvSpPr>
        <p:spPr>
          <a:xfrm>
            <a:off x="640080" y="3017520"/>
            <a:ext cx="548640" cy="5486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6" name="Text 14"/>
          <p:cNvSpPr/>
          <p:nvPr/>
        </p:nvSpPr>
        <p:spPr>
          <a:xfrm>
            <a:off x="1371600" y="2926080"/>
            <a:ext cx="2743200" cy="32004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Adversarial Simulation</a:t>
            </a:r>
            <a:endParaRPr lang="en-US" sz="1400" dirty="0"/>
          </a:p>
        </p:txBody>
      </p:sp>
      <p:sp>
        <p:nvSpPr>
          <p:cNvPr id="17" name="Text 15"/>
          <p:cNvSpPr/>
          <p:nvPr/>
        </p:nvSpPr>
        <p:spPr>
          <a:xfrm>
            <a:off x="1371600" y="3227832"/>
            <a:ext cx="7040880"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Before real interviews, AI stress-tests assumptions by steelmanning every objection. 50 adversarial AI sessions before the first real customer conversation.</a:t>
            </a:r>
            <a:endParaRPr lang="en-US" sz="1100" dirty="0"/>
          </a:p>
        </p:txBody>
      </p:sp>
      <p:sp>
        <p:nvSpPr>
          <p:cNvPr id="18" name="Shape 16"/>
          <p:cNvSpPr/>
          <p:nvPr/>
        </p:nvSpPr>
        <p:spPr>
          <a:xfrm>
            <a:off x="457200" y="3840480"/>
            <a:ext cx="822960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640080" y="3977640"/>
            <a:ext cx="548640" cy="548640"/>
          </a:xfrm>
          <a:prstGeom prst="ellipse">
            <a:avLst/>
          </a:prstGeom>
          <a:solidFill>
            <a:srgbClr val="8C1515"/>
          </a:solidFill>
          <a:ln/>
        </p:spPr>
      </p:sp>
      <p:sp>
        <p:nvSpPr>
          <p:cNvPr id="20" name="Text 18"/>
          <p:cNvSpPr/>
          <p:nvPr/>
        </p:nvSpPr>
        <p:spPr>
          <a:xfrm>
            <a:off x="640080" y="3977640"/>
            <a:ext cx="548640" cy="5486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1" name="Text 19"/>
          <p:cNvSpPr/>
          <p:nvPr/>
        </p:nvSpPr>
        <p:spPr>
          <a:xfrm>
            <a:off x="1371600" y="3886200"/>
            <a:ext cx="2743200" cy="320040"/>
          </a:xfrm>
          <a:prstGeom prst="rect">
            <a:avLst/>
          </a:prstGeom>
          <a:noFill/>
          <a:ln/>
        </p:spPr>
        <p:txBody>
          <a:bodyPr wrap="square" rtlCol="0" anchor="ctr"/>
          <a:lstStyle/>
          <a:p>
            <a:pPr indent="0" marL="0">
              <a:buNone/>
            </a:pPr>
            <a:r>
              <a:rPr lang="en-US" sz="1400" b="1" dirty="0">
                <a:solidFill>
                  <a:srgbClr val="1E293B"/>
                </a:solidFill>
                <a:latin typeface="Georgia" pitchFamily="34" charset="0"/>
                <a:ea typeface="Georgia" pitchFamily="34" charset="-122"/>
                <a:cs typeface="Georgia" pitchFamily="34" charset="-120"/>
              </a:rPr>
              <a:t>Mechanism Design Thinking</a:t>
            </a:r>
            <a:endParaRPr lang="en-US" sz="1400" dirty="0"/>
          </a:p>
        </p:txBody>
      </p:sp>
      <p:sp>
        <p:nvSpPr>
          <p:cNvPr id="22" name="Text 20"/>
          <p:cNvSpPr/>
          <p:nvPr/>
        </p:nvSpPr>
        <p:spPr>
          <a:xfrm>
            <a:off x="1371600" y="4187952"/>
            <a:ext cx="7040880" cy="438912"/>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Who has incentive to tell the truth, and under what conditions? Structure interactions so a "yes" means something.</a:t>
            </a:r>
            <a:endParaRPr lang="en-US" sz="1100" dirty="0"/>
          </a:p>
        </p:txBody>
      </p:sp>
      <p:sp>
        <p:nvSpPr>
          <p:cNvPr id="23" name="Shape 21"/>
          <p:cNvSpPr/>
          <p:nvPr/>
        </p:nvSpPr>
        <p:spPr>
          <a:xfrm>
            <a:off x="0" y="4892040"/>
            <a:ext cx="9144000" cy="251460"/>
          </a:xfrm>
          <a:prstGeom prst="rect">
            <a:avLst/>
          </a:prstGeom>
          <a:solidFill>
            <a:srgbClr val="8C1515"/>
          </a:solidFill>
          <a:ln/>
        </p:spPr>
      </p:sp>
      <p:sp>
        <p:nvSpPr>
          <p:cNvPr id="25" name="Text 22"/>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Fundamental Shift</a:t>
            </a:r>
            <a:endParaRPr lang="en-US" sz="3200" dirty="0"/>
          </a:p>
        </p:txBody>
      </p:sp>
      <p:sp>
        <p:nvSpPr>
          <p:cNvPr id="3" name="Shape 1"/>
          <p:cNvSpPr/>
          <p:nvPr/>
        </p:nvSpPr>
        <p:spPr>
          <a:xfrm>
            <a:off x="457200" y="1371600"/>
            <a:ext cx="3931920" cy="2743200"/>
          </a:xfrm>
          <a:prstGeom prst="rect">
            <a:avLst/>
          </a:prstGeom>
          <a:solidFill>
            <a:srgbClr val="16213E"/>
          </a:solidFill>
          <a:ln/>
        </p:spPr>
      </p:sp>
      <p:sp>
        <p:nvSpPr>
          <p:cNvPr id="4" name="Shape 2"/>
          <p:cNvSpPr/>
          <p:nvPr/>
        </p:nvSpPr>
        <p:spPr>
          <a:xfrm>
            <a:off x="457200" y="1371600"/>
            <a:ext cx="3931920" cy="64008"/>
          </a:xfrm>
          <a:prstGeom prst="rect">
            <a:avLst/>
          </a:prstGeom>
          <a:solidFill>
            <a:srgbClr val="E94560"/>
          </a:solidFill>
          <a:ln/>
        </p:spPr>
      </p:sp>
      <p:sp>
        <p:nvSpPr>
          <p:cNvPr id="5" name="Text 3"/>
          <p:cNvSpPr/>
          <p:nvPr/>
        </p:nvSpPr>
        <p:spPr>
          <a:xfrm>
            <a:off x="640080" y="1554480"/>
            <a:ext cx="3566160" cy="457200"/>
          </a:xfrm>
          <a:prstGeom prst="rect">
            <a:avLst/>
          </a:prstGeom>
          <a:noFill/>
          <a:ln/>
        </p:spPr>
        <p:txBody>
          <a:bodyPr wrap="square" rtlCol="0" anchor="ctr"/>
          <a:lstStyle/>
          <a:p>
            <a:pPr indent="0" marL="0">
              <a:buNone/>
            </a:pPr>
            <a:r>
              <a:rPr lang="en-US" sz="2000" b="1" dirty="0">
                <a:solidFill>
                  <a:srgbClr val="E94560"/>
                </a:solidFill>
                <a:latin typeface="Georgia" pitchFamily="34" charset="0"/>
                <a:ea typeface="Georgia" pitchFamily="34" charset="-122"/>
                <a:cs typeface="Georgia" pitchFamily="34" charset="-120"/>
              </a:rPr>
              <a:t>AI as Generator</a:t>
            </a:r>
            <a:endParaRPr lang="en-US" sz="2000" dirty="0"/>
          </a:p>
        </p:txBody>
      </p:sp>
      <p:sp>
        <p:nvSpPr>
          <p:cNvPr id="6" name="Text 4"/>
          <p:cNvSpPr/>
          <p:nvPr/>
        </p:nvSpPr>
        <p:spPr>
          <a:xfrm>
            <a:off x="640080" y="2103120"/>
            <a:ext cx="3566160" cy="1828800"/>
          </a:xfrm>
          <a:prstGeom prst="rect">
            <a:avLst/>
          </a:prstGeom>
          <a:noFill/>
          <a:ln/>
        </p:spPr>
        <p:txBody>
          <a:bodyPr wrap="square" rtlCol="0" anchor="ctr"/>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Creates polished narratives that mask uncertainty</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Industrializes motivated reasoning at scale</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Increases in-box congestion for investors and customers</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Widens the gap between perception and reality</a:t>
            </a:r>
            <a:endParaRPr lang="en-US" sz="1200" dirty="0"/>
          </a:p>
        </p:txBody>
      </p:sp>
      <p:sp>
        <p:nvSpPr>
          <p:cNvPr id="7" name="Text 5"/>
          <p:cNvSpPr/>
          <p:nvPr/>
        </p:nvSpPr>
        <p:spPr>
          <a:xfrm>
            <a:off x="4114800" y="2103120"/>
            <a:ext cx="914400" cy="1371600"/>
          </a:xfrm>
          <a:prstGeom prst="rect">
            <a:avLst/>
          </a:prstGeom>
          <a:noFill/>
          <a:ln/>
        </p:spPr>
        <p:txBody>
          <a:bodyPr wrap="square" rtlCol="0" anchor="ctr"/>
          <a:lstStyle/>
          <a:p>
            <a:pPr algn="ctr" indent="0" marL="0">
              <a:buNone/>
            </a:pPr>
            <a:r>
              <a:rPr lang="en-US" sz="3600" dirty="0">
                <a:solidFill>
                  <a:srgbClr val="F5A623"/>
                </a:solidFill>
              </a:rPr>
              <a:t>→</a:t>
            </a:r>
            <a:endParaRPr lang="en-US" sz="3600" dirty="0"/>
          </a:p>
        </p:txBody>
      </p:sp>
      <p:sp>
        <p:nvSpPr>
          <p:cNvPr id="8" name="Shape 6"/>
          <p:cNvSpPr/>
          <p:nvPr/>
        </p:nvSpPr>
        <p:spPr>
          <a:xfrm>
            <a:off x="4754880" y="1371600"/>
            <a:ext cx="3931920" cy="2743200"/>
          </a:xfrm>
          <a:prstGeom prst="rect">
            <a:avLst/>
          </a:prstGeom>
          <a:solidFill>
            <a:srgbClr val="16213E"/>
          </a:solidFill>
          <a:ln/>
        </p:spPr>
      </p:sp>
      <p:sp>
        <p:nvSpPr>
          <p:cNvPr id="9" name="Shape 7"/>
          <p:cNvSpPr/>
          <p:nvPr/>
        </p:nvSpPr>
        <p:spPr>
          <a:xfrm>
            <a:off x="4754880" y="1371600"/>
            <a:ext cx="3931920" cy="64008"/>
          </a:xfrm>
          <a:prstGeom prst="rect">
            <a:avLst/>
          </a:prstGeom>
          <a:solidFill>
            <a:srgbClr val="0F969C"/>
          </a:solidFill>
          <a:ln/>
        </p:spPr>
      </p:sp>
      <p:sp>
        <p:nvSpPr>
          <p:cNvPr id="10" name="Text 8"/>
          <p:cNvSpPr/>
          <p:nvPr/>
        </p:nvSpPr>
        <p:spPr>
          <a:xfrm>
            <a:off x="4937760" y="1554480"/>
            <a:ext cx="3566160" cy="457200"/>
          </a:xfrm>
          <a:prstGeom prst="rect">
            <a:avLst/>
          </a:prstGeom>
          <a:noFill/>
          <a:ln/>
        </p:spPr>
        <p:txBody>
          <a:bodyPr wrap="square" rtlCol="0" anchor="ctr"/>
          <a:lstStyle/>
          <a:p>
            <a:pPr indent="0" marL="0">
              <a:buNone/>
            </a:pPr>
            <a:r>
              <a:rPr lang="en-US" sz="2000" b="1" dirty="0">
                <a:solidFill>
                  <a:srgbClr val="0F969C"/>
                </a:solidFill>
                <a:latin typeface="Georgia" pitchFamily="34" charset="0"/>
                <a:ea typeface="Georgia" pitchFamily="34" charset="-122"/>
                <a:cs typeface="Georgia" pitchFamily="34" charset="-120"/>
              </a:rPr>
              <a:t>AI as Verifier</a:t>
            </a:r>
            <a:endParaRPr lang="en-US" sz="2000" dirty="0"/>
          </a:p>
        </p:txBody>
      </p:sp>
      <p:sp>
        <p:nvSpPr>
          <p:cNvPr id="11" name="Text 9"/>
          <p:cNvSpPr/>
          <p:nvPr/>
        </p:nvSpPr>
        <p:spPr>
          <a:xfrm>
            <a:off x="4937760" y="2103120"/>
            <a:ext cx="3566160" cy="1828800"/>
          </a:xfrm>
          <a:prstGeom prst="rect">
            <a:avLst/>
          </a:prstGeom>
          <a:noFill/>
          <a:ln/>
        </p:spPr>
        <p:txBody>
          <a:bodyPr wrap="square" rtlCol="0" anchor="ctr"/>
          <a:lstStyle/>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Surfaces contradictions in customer evidence</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Stress-tests assumptions adversarially</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Identifies costly signals vs. cheap talk</a:t>
            </a:r>
            <a:endParaRPr lang="en-US" sz="1200" dirty="0"/>
          </a:p>
          <a:p>
            <a:pPr marL="342900" indent="-342900">
              <a:spcAft>
                <a:spcPts val="600"/>
              </a:spcAft>
              <a:buSzPct val="100000"/>
              <a:buChar char="•"/>
            </a:pPr>
            <a:r>
              <a:rPr lang="en-US" sz="1200" dirty="0">
                <a:solidFill>
                  <a:srgbClr val="CBD5E1"/>
                </a:solidFill>
                <a:latin typeface="Calibri" pitchFamily="34" charset="0"/>
                <a:ea typeface="Calibri" pitchFamily="34" charset="-122"/>
                <a:cs typeface="Calibri" pitchFamily="34" charset="-120"/>
              </a:rPr>
              <a:t>Makes the truth easier to tell than to obscure</a:t>
            </a:r>
            <a:endParaRPr lang="en-US" sz="1200" dirty="0"/>
          </a:p>
        </p:txBody>
      </p:sp>
      <p:sp>
        <p:nvSpPr>
          <p:cNvPr id="12" name="Text 10"/>
          <p:cNvSpPr/>
          <p:nvPr/>
        </p:nvSpPr>
        <p:spPr>
          <a:xfrm>
            <a:off x="731520" y="4297680"/>
            <a:ext cx="7680960" cy="457200"/>
          </a:xfrm>
          <a:prstGeom prst="rect">
            <a:avLst/>
          </a:prstGeom>
          <a:noFill/>
          <a:ln/>
        </p:spPr>
        <p:txBody>
          <a:bodyPr wrap="square"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Trust is a mechanism design problem — not a content generation problem.</a:t>
            </a:r>
            <a:endParaRPr lang="en-US" sz="1400" dirty="0"/>
          </a:p>
        </p:txBody>
      </p:sp>
      <p:sp>
        <p:nvSpPr>
          <p:cNvPr id="13" name="Shape 11"/>
          <p:cNvSpPr/>
          <p:nvPr/>
        </p:nvSpPr>
        <p:spPr>
          <a:xfrm>
            <a:off x="0" y="4892040"/>
            <a:ext cx="9144000" cy="251460"/>
          </a:xfrm>
          <a:prstGeom prst="rect">
            <a:avLst/>
          </a:prstGeom>
          <a:solidFill>
            <a:srgbClr val="8C1515"/>
          </a:solidFill>
          <a:ln/>
        </p:spPr>
      </p:sp>
      <p:sp>
        <p:nvSpPr>
          <p:cNvPr id="15" name="Text 12"/>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8"/>
        </a:solidFill>
      </p:bgPr>
    </p:bg>
    <p:spTree>
      <p:nvGrpSpPr>
        <p:cNvPr id="1" name=""/>
        <p:cNvGrpSpPr/>
        <p:nvPr/>
      </p:nvGrpSpPr>
      <p:grpSpPr>
        <a:xfrm>
          <a:off x="0" y="0"/>
          <a:ext cx="0" cy="0"/>
          <a:chOff x="0" y="0"/>
          <a:chExt cx="0" cy="0"/>
        </a:xfrm>
      </p:grpSpPr>
      <p:sp>
        <p:nvSpPr>
          <p:cNvPr id="2" name="Text 0"/>
          <p:cNvSpPr/>
          <p:nvPr/>
        </p:nvSpPr>
        <p:spPr>
          <a:xfrm>
            <a:off x="731520" y="274320"/>
            <a:ext cx="7680960" cy="640080"/>
          </a:xfrm>
          <a:prstGeom prst="rect">
            <a:avLst/>
          </a:prstGeom>
          <a:noFill/>
          <a:ln/>
        </p:spPr>
        <p:txBody>
          <a:bodyPr wrap="square" rtlCol="0" anchor="ctr"/>
          <a:lstStyle/>
          <a:p>
            <a:pPr indent="0" marL="0">
              <a:buNone/>
            </a:pPr>
            <a:r>
              <a:rPr lang="en-US" sz="3000" b="1" dirty="0">
                <a:solidFill>
                  <a:srgbClr val="1E293B"/>
                </a:solidFill>
                <a:latin typeface="Georgia" pitchFamily="34" charset="0"/>
                <a:ea typeface="Georgia" pitchFamily="34" charset="-122"/>
                <a:cs typeface="Georgia" pitchFamily="34" charset="-120"/>
              </a:rPr>
              <a:t>Where STVP Leads Next</a:t>
            </a:r>
            <a:endParaRPr lang="en-US" sz="3000" dirty="0"/>
          </a:p>
        </p:txBody>
      </p:sp>
      <p:sp>
        <p:nvSpPr>
          <p:cNvPr id="3" name="Shape 1"/>
          <p:cNvSpPr/>
          <p:nvPr/>
        </p:nvSpPr>
        <p:spPr>
          <a:xfrm>
            <a:off x="457200" y="1188720"/>
            <a:ext cx="2697480" cy="3291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4" name="Shape 2"/>
          <p:cNvSpPr/>
          <p:nvPr/>
        </p:nvSpPr>
        <p:spPr>
          <a:xfrm>
            <a:off x="457200" y="1188720"/>
            <a:ext cx="2697480" cy="64008"/>
          </a:xfrm>
          <a:prstGeom prst="rect">
            <a:avLst/>
          </a:prstGeom>
          <a:solidFill>
            <a:srgbClr val="8C1515"/>
          </a:solidFill>
          <a:ln/>
        </p:spPr>
      </p:sp>
      <p:sp>
        <p:nvSpPr>
          <p:cNvPr id="5" name="Text 3"/>
          <p:cNvSpPr/>
          <p:nvPr/>
        </p:nvSpPr>
        <p:spPr>
          <a:xfrm>
            <a:off x="594360" y="1371600"/>
            <a:ext cx="2423160" cy="457200"/>
          </a:xfrm>
          <a:prstGeom prst="rect">
            <a:avLst/>
          </a:prstGeom>
          <a:noFill/>
          <a:ln/>
        </p:spPr>
        <p:txBody>
          <a:bodyPr wrap="square" rtlCol="0" anchor="ctr"/>
          <a:lstStyle/>
          <a:p>
            <a:pPr indent="0" marL="0">
              <a:buNone/>
            </a:pPr>
            <a:r>
              <a:rPr lang="en-US" sz="1600" b="1" dirty="0">
                <a:solidFill>
                  <a:srgbClr val="8C1515"/>
                </a:solidFill>
                <a:latin typeface="Georgia" pitchFamily="34" charset="0"/>
                <a:ea typeface="Georgia" pitchFamily="34" charset="-122"/>
                <a:cs typeface="Georgia" pitchFamily="34" charset="-120"/>
              </a:rPr>
              <a:t>In Our Curriculum</a:t>
            </a:r>
            <a:endParaRPr lang="en-US" sz="1600" dirty="0"/>
          </a:p>
        </p:txBody>
      </p:sp>
      <p:sp>
        <p:nvSpPr>
          <p:cNvPr id="6" name="Text 4"/>
          <p:cNvSpPr/>
          <p:nvPr/>
        </p:nvSpPr>
        <p:spPr>
          <a:xfrm>
            <a:off x="594360" y="1920240"/>
            <a:ext cx="2423160" cy="228600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Building on Eesley’s entrepreneurship education research, we’re now incorporating AI-driven ideation into our refugee entrepreneurship program in Uganda. Hannah &amp; O’Mahony (AMLE 2026) confirm e-ship is a ‘field in flux.’ Teach AI as auditor, not just assistant — mechanism design meets verification thinking.</a:t>
            </a:r>
            <a:endParaRPr lang="en-US" sz="1150" dirty="0"/>
          </a:p>
        </p:txBody>
      </p:sp>
      <p:sp>
        <p:nvSpPr>
          <p:cNvPr id="7" name="Shape 5"/>
          <p:cNvSpPr/>
          <p:nvPr/>
        </p:nvSpPr>
        <p:spPr>
          <a:xfrm>
            <a:off x="3337560" y="1188720"/>
            <a:ext cx="2697480" cy="3291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337560" y="1188720"/>
            <a:ext cx="2697480" cy="64008"/>
          </a:xfrm>
          <a:prstGeom prst="rect">
            <a:avLst/>
          </a:prstGeom>
          <a:solidFill>
            <a:srgbClr val="0F969C"/>
          </a:solidFill>
          <a:ln/>
        </p:spPr>
      </p:sp>
      <p:sp>
        <p:nvSpPr>
          <p:cNvPr id="9" name="Text 7"/>
          <p:cNvSpPr/>
          <p:nvPr/>
        </p:nvSpPr>
        <p:spPr>
          <a:xfrm>
            <a:off x="3474720" y="1371600"/>
            <a:ext cx="2423160" cy="457200"/>
          </a:xfrm>
          <a:prstGeom prst="rect">
            <a:avLst/>
          </a:prstGeom>
          <a:noFill/>
          <a:ln/>
        </p:spPr>
        <p:txBody>
          <a:bodyPr wrap="square" rtlCol="0" anchor="ctr"/>
          <a:lstStyle/>
          <a:p>
            <a:pPr indent="0" marL="0">
              <a:buNone/>
            </a:pPr>
            <a:r>
              <a:rPr lang="en-US" sz="1600" b="1" dirty="0">
                <a:solidFill>
                  <a:srgbClr val="0F969C"/>
                </a:solidFill>
                <a:latin typeface="Georgia" pitchFamily="34" charset="0"/>
                <a:ea typeface="Georgia" pitchFamily="34" charset="-122"/>
                <a:cs typeface="Georgia" pitchFamily="34" charset="-120"/>
              </a:rPr>
              <a:t>In Our Research</a:t>
            </a:r>
            <a:endParaRPr lang="en-US" sz="1600" dirty="0"/>
          </a:p>
        </p:txBody>
      </p:sp>
      <p:sp>
        <p:nvSpPr>
          <p:cNvPr id="10" name="Text 8"/>
          <p:cNvSpPr/>
          <p:nvPr/>
        </p:nvSpPr>
        <p:spPr>
          <a:xfrm>
            <a:off x="3474720" y="1920240"/>
            <a:ext cx="2423160" cy="228600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Continue the rigorous experimental tradition. Katila &amp; Li are using AI to predict startup outcomes. Our current PhD students are pursuing these questions — not just whether AI works, but when, for whom, and under what conditions.</a:t>
            </a:r>
            <a:endParaRPr lang="en-US" sz="1150" dirty="0"/>
          </a:p>
        </p:txBody>
      </p:sp>
      <p:sp>
        <p:nvSpPr>
          <p:cNvPr id="11" name="Shape 9"/>
          <p:cNvSpPr/>
          <p:nvPr/>
        </p:nvSpPr>
        <p:spPr>
          <a:xfrm>
            <a:off x="6217920" y="1188720"/>
            <a:ext cx="2697480" cy="3291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6217920" y="1188720"/>
            <a:ext cx="2697480" cy="64008"/>
          </a:xfrm>
          <a:prstGeom prst="rect">
            <a:avLst/>
          </a:prstGeom>
          <a:solidFill>
            <a:srgbClr val="16213E"/>
          </a:solidFill>
          <a:ln/>
        </p:spPr>
      </p:sp>
      <p:sp>
        <p:nvSpPr>
          <p:cNvPr id="13" name="Text 11"/>
          <p:cNvSpPr/>
          <p:nvPr/>
        </p:nvSpPr>
        <p:spPr>
          <a:xfrm>
            <a:off x="6355080" y="1371600"/>
            <a:ext cx="2423160" cy="457200"/>
          </a:xfrm>
          <a:prstGeom prst="rect">
            <a:avLst/>
          </a:prstGeom>
          <a:noFill/>
          <a:ln/>
        </p:spPr>
        <p:txBody>
          <a:bodyPr wrap="square" rtlCol="0" anchor="ctr"/>
          <a:lstStyle/>
          <a:p>
            <a:pPr indent="0" marL="0">
              <a:buNone/>
            </a:pPr>
            <a:r>
              <a:rPr lang="en-US" sz="1600" b="1" dirty="0">
                <a:solidFill>
                  <a:srgbClr val="16213E"/>
                </a:solidFill>
                <a:latin typeface="Georgia" pitchFamily="34" charset="0"/>
                <a:ea typeface="Georgia" pitchFamily="34" charset="-122"/>
                <a:cs typeface="Georgia" pitchFamily="34" charset="-120"/>
              </a:rPr>
              <a:t>In Our Community</a:t>
            </a:r>
            <a:endParaRPr lang="en-US" sz="1600" dirty="0"/>
          </a:p>
        </p:txBody>
      </p:sp>
      <p:sp>
        <p:nvSpPr>
          <p:cNvPr id="14" name="Text 12"/>
          <p:cNvSpPr/>
          <p:nvPr/>
        </p:nvSpPr>
        <p:spPr>
          <a:xfrm>
            <a:off x="6355080" y="1920240"/>
            <a:ext cx="2423160" cy="228600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STVP alumni and supporters are uniquely positioned — as founders, investors, and educators — to pioneer verification-first approaches in your own organizations. Apply these insights now.</a:t>
            </a:r>
            <a:endParaRPr lang="en-US" sz="1150" dirty="0"/>
          </a:p>
        </p:txBody>
      </p:sp>
      <p:sp>
        <p:nvSpPr>
          <p:cNvPr id="15" name="Shape 13"/>
          <p:cNvSpPr/>
          <p:nvPr/>
        </p:nvSpPr>
        <p:spPr>
          <a:xfrm>
            <a:off x="0" y="4892040"/>
            <a:ext cx="9144000" cy="251460"/>
          </a:xfrm>
          <a:prstGeom prst="rect">
            <a:avLst/>
          </a:prstGeom>
          <a:solidFill>
            <a:srgbClr val="8C1515"/>
          </a:solidFill>
          <a:ln/>
        </p:spPr>
      </p:sp>
      <p:sp>
        <p:nvSpPr>
          <p:cNvPr id="17" name="Text 14"/>
          <p:cNvSpPr/>
          <p:nvPr/>
        </p:nvSpPr>
        <p:spPr>
          <a:xfrm>
            <a:off x="8229600" y="4754880"/>
            <a:ext cx="731520" cy="274320"/>
          </a:xfrm>
          <a:prstGeom prst="rect">
            <a:avLst/>
          </a:prstGeom>
          <a:noFill/>
          <a:ln/>
        </p:spPr>
        <p:txBody>
          <a:bodyPr wrap="square"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rot="-900000">
            <a:off x="-914400" y="-457200"/>
            <a:ext cx="3200400" cy="2286000"/>
          </a:xfrm>
          <a:prstGeom prst="rect">
            <a:avLst/>
          </a:prstGeom>
          <a:solidFill>
            <a:srgbClr val="8C1515">
              <a:alpha val="85000"/>
            </a:srgbClr>
          </a:solidFill>
          <a:ln/>
        </p:spPr>
      </p:sp>
      <p:sp>
        <p:nvSpPr>
          <p:cNvPr id="3" name="Shape 1"/>
          <p:cNvSpPr/>
          <p:nvPr/>
        </p:nvSpPr>
        <p:spPr>
          <a:xfrm rot="900000">
            <a:off x="6858000" y="3657600"/>
            <a:ext cx="3200400" cy="2286000"/>
          </a:xfrm>
          <a:prstGeom prst="rect">
            <a:avLst/>
          </a:prstGeom>
          <a:solidFill>
            <a:srgbClr val="0F969C">
              <a:alpha val="90000"/>
            </a:srgbClr>
          </a:solidFill>
          <a:ln/>
        </p:spPr>
      </p:sp>
      <p:sp>
        <p:nvSpPr>
          <p:cNvPr id="4" name="Text 2"/>
          <p:cNvSpPr/>
          <p:nvPr/>
        </p:nvSpPr>
        <p:spPr>
          <a:xfrm>
            <a:off x="731520" y="914400"/>
            <a:ext cx="7680960" cy="1097280"/>
          </a:xfrm>
          <a:prstGeom prst="rect">
            <a:avLst/>
          </a:prstGeom>
          <a:noFill/>
          <a:ln/>
        </p:spPr>
        <p:txBody>
          <a:bodyPr wrap="square" rtlCol="0" anchor="ctr"/>
          <a:lstStyle/>
          <a:p>
            <a:pPr algn="ctr" indent="0" marL="0">
              <a:buNone/>
            </a:pPr>
            <a:r>
              <a:rPr lang="en-US" sz="2800" dirty="0">
                <a:solidFill>
                  <a:srgbClr val="CBD5E1"/>
                </a:solidFill>
                <a:latin typeface="Georgia" pitchFamily="34" charset="0"/>
                <a:ea typeface="Georgia" pitchFamily="34" charset="-122"/>
                <a:cs typeface="Georgia" pitchFamily="34" charset="-120"/>
              </a:rPr>
              <a:t>The future of entrepreneurship</a:t>
            </a:r>
            <a:endParaRPr lang="en-US" sz="2800" dirty="0"/>
          </a:p>
          <a:p>
            <a:pPr algn="ctr" indent="0" marL="0">
              <a:buNone/>
            </a:pPr>
            <a:r>
              <a:rPr lang="en-US" sz="2800" dirty="0">
                <a:solidFill>
                  <a:srgbClr val="CBD5E1"/>
                </a:solidFill>
                <a:latin typeface="Georgia" pitchFamily="34" charset="0"/>
                <a:ea typeface="Georgia" pitchFamily="34" charset="-122"/>
                <a:cs typeface="Georgia" pitchFamily="34" charset="-120"/>
              </a:rPr>
              <a:t>isn't about being the loudest.</a:t>
            </a:r>
            <a:endParaRPr lang="en-US" sz="2800" dirty="0"/>
          </a:p>
        </p:txBody>
      </p:sp>
      <p:sp>
        <p:nvSpPr>
          <p:cNvPr id="5" name="Text 3"/>
          <p:cNvSpPr/>
          <p:nvPr/>
        </p:nvSpPr>
        <p:spPr>
          <a:xfrm>
            <a:off x="731520" y="2103120"/>
            <a:ext cx="7680960" cy="731520"/>
          </a:xfrm>
          <a:prstGeom prst="rect">
            <a:avLst/>
          </a:prstGeom>
          <a:noFill/>
          <a:ln/>
        </p:spPr>
        <p:txBody>
          <a:bodyPr wrap="square"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It's about being the most verifiable.</a:t>
            </a:r>
            <a:endParaRPr lang="en-US" sz="3000" dirty="0"/>
          </a:p>
        </p:txBody>
      </p:sp>
      <p:sp>
        <p:nvSpPr>
          <p:cNvPr id="6" name="Shape 4"/>
          <p:cNvSpPr/>
          <p:nvPr/>
        </p:nvSpPr>
        <p:spPr>
          <a:xfrm>
            <a:off x="3200400" y="3017520"/>
            <a:ext cx="2743200" cy="36576"/>
          </a:xfrm>
          <a:prstGeom prst="rect">
            <a:avLst/>
          </a:prstGeom>
          <a:solidFill>
            <a:srgbClr val="F5A623"/>
          </a:solidFill>
          <a:ln/>
        </p:spPr>
      </p:sp>
      <p:sp>
        <p:nvSpPr>
          <p:cNvPr id="7" name="Text 5"/>
          <p:cNvSpPr/>
          <p:nvPr/>
        </p:nvSpPr>
        <p:spPr>
          <a:xfrm>
            <a:off x="731520" y="3291840"/>
            <a:ext cx="7680960" cy="457200"/>
          </a:xfrm>
          <a:prstGeom prst="rect">
            <a:avLst/>
          </a:prstGeom>
          <a:noFill/>
          <a:ln/>
        </p:spPr>
        <p:txBody>
          <a:bodyPr wrap="square"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Chuck Eesley  |  Stanford STVP</a:t>
            </a:r>
            <a:endParaRPr lang="en-US" sz="1600" dirty="0"/>
          </a:p>
        </p:txBody>
      </p:sp>
      <p:sp>
        <p:nvSpPr>
          <p:cNvPr id="8" name="Text 6"/>
          <p:cNvSpPr/>
          <p:nvPr/>
        </p:nvSpPr>
        <p:spPr>
          <a:xfrm>
            <a:off x="731520" y="3749040"/>
            <a:ext cx="7680960" cy="365760"/>
          </a:xfrm>
          <a:prstGeom prst="rect">
            <a:avLst/>
          </a:prstGeom>
          <a:noFill/>
          <a:ln/>
        </p:spPr>
        <p:txBody>
          <a:bodyPr wrap="square" rtlCol="0" anchor="ctr"/>
          <a:lstStyle/>
          <a:p>
            <a:pPr algn="ctr" indent="0" marL="0">
              <a:buNone/>
            </a:pPr>
            <a:r>
              <a:rPr lang="en-US" sz="1300" dirty="0">
                <a:solidFill>
                  <a:srgbClr val="9CA3AF"/>
                </a:solidFill>
                <a:latin typeface="Calibri" pitchFamily="34" charset="0"/>
                <a:ea typeface="Calibri" pitchFamily="34" charset="-122"/>
                <a:cs typeface="Calibri" pitchFamily="34" charset="-120"/>
              </a:rPr>
              <a:t>ceesley.substack.com  |  @cee</a:t>
            </a:r>
            <a:endParaRPr lang="en-US" sz="1300" dirty="0"/>
          </a:p>
        </p:txBody>
      </p:sp>
      <p:sp>
        <p:nvSpPr>
          <p:cNvPr id="9" name="Shape 7"/>
          <p:cNvSpPr/>
          <p:nvPr/>
        </p:nvSpPr>
        <p:spPr>
          <a:xfrm>
            <a:off x="0" y="4892040"/>
            <a:ext cx="9144000" cy="251460"/>
          </a:xfrm>
          <a:prstGeom prst="rect">
            <a:avLst/>
          </a:prstGeom>
          <a:solidFill>
            <a:srgbClr val="8C151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Education: From Generation to Verification</dc:title>
  <dc:subject>PptxGenJS Presentation</dc:subject>
  <dc:creator>Chuck Eesley</dc:creator>
  <cp:lastModifiedBy>Chuck Eesley</cp:lastModifiedBy>
  <cp:revision>1</cp:revision>
  <dcterms:created xsi:type="dcterms:W3CDTF">2026-04-06T22:35:25Z</dcterms:created>
  <dcterms:modified xsi:type="dcterms:W3CDTF">2026-04-06T22:35:25Z</dcterms:modified>
</cp:coreProperties>
</file>